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0275213" cy="42803763"/>
  <p:notesSz cx="6858000" cy="9144000"/>
  <p:defaultTextStyle>
    <a:defPPr>
      <a:defRPr lang="en-US"/>
    </a:defPPr>
    <a:lvl1pPr algn="l" rtl="0" fontAlgn="base">
      <a:spcBef>
        <a:spcPct val="0"/>
      </a:spcBef>
      <a:spcAft>
        <a:spcPct val="0"/>
      </a:spcAft>
      <a:defRPr sz="3001" kern="1200">
        <a:solidFill>
          <a:schemeClr val="tx1"/>
        </a:solidFill>
        <a:latin typeface="Arial" charset="0"/>
        <a:ea typeface="+mn-ea"/>
        <a:cs typeface="+mn-cs"/>
      </a:defRPr>
    </a:lvl1pPr>
    <a:lvl2pPr marL="457291" algn="l" rtl="0" fontAlgn="base">
      <a:spcBef>
        <a:spcPct val="0"/>
      </a:spcBef>
      <a:spcAft>
        <a:spcPct val="0"/>
      </a:spcAft>
      <a:defRPr sz="3001" kern="1200">
        <a:solidFill>
          <a:schemeClr val="tx1"/>
        </a:solidFill>
        <a:latin typeface="Arial" charset="0"/>
        <a:ea typeface="+mn-ea"/>
        <a:cs typeface="+mn-cs"/>
      </a:defRPr>
    </a:lvl2pPr>
    <a:lvl3pPr marL="914583" algn="l" rtl="0" fontAlgn="base">
      <a:spcBef>
        <a:spcPct val="0"/>
      </a:spcBef>
      <a:spcAft>
        <a:spcPct val="0"/>
      </a:spcAft>
      <a:defRPr sz="3001" kern="1200">
        <a:solidFill>
          <a:schemeClr val="tx1"/>
        </a:solidFill>
        <a:latin typeface="Arial" charset="0"/>
        <a:ea typeface="+mn-ea"/>
        <a:cs typeface="+mn-cs"/>
      </a:defRPr>
    </a:lvl3pPr>
    <a:lvl4pPr marL="1371874" algn="l" rtl="0" fontAlgn="base">
      <a:spcBef>
        <a:spcPct val="0"/>
      </a:spcBef>
      <a:spcAft>
        <a:spcPct val="0"/>
      </a:spcAft>
      <a:defRPr sz="3001" kern="1200">
        <a:solidFill>
          <a:schemeClr val="tx1"/>
        </a:solidFill>
        <a:latin typeface="Arial" charset="0"/>
        <a:ea typeface="+mn-ea"/>
        <a:cs typeface="+mn-cs"/>
      </a:defRPr>
    </a:lvl4pPr>
    <a:lvl5pPr marL="1829166" algn="l" rtl="0" fontAlgn="base">
      <a:spcBef>
        <a:spcPct val="0"/>
      </a:spcBef>
      <a:spcAft>
        <a:spcPct val="0"/>
      </a:spcAft>
      <a:defRPr sz="3001" kern="1200">
        <a:solidFill>
          <a:schemeClr val="tx1"/>
        </a:solidFill>
        <a:latin typeface="Arial" charset="0"/>
        <a:ea typeface="+mn-ea"/>
        <a:cs typeface="+mn-cs"/>
      </a:defRPr>
    </a:lvl5pPr>
    <a:lvl6pPr marL="2286457" algn="l" defTabSz="914583" rtl="0" eaLnBrk="1" latinLnBrk="0" hangingPunct="1">
      <a:defRPr sz="3001" kern="1200">
        <a:solidFill>
          <a:schemeClr val="tx1"/>
        </a:solidFill>
        <a:latin typeface="Arial" charset="0"/>
        <a:ea typeface="+mn-ea"/>
        <a:cs typeface="+mn-cs"/>
      </a:defRPr>
    </a:lvl6pPr>
    <a:lvl7pPr marL="2743749" algn="l" defTabSz="914583" rtl="0" eaLnBrk="1" latinLnBrk="0" hangingPunct="1">
      <a:defRPr sz="3001" kern="1200">
        <a:solidFill>
          <a:schemeClr val="tx1"/>
        </a:solidFill>
        <a:latin typeface="Arial" charset="0"/>
        <a:ea typeface="+mn-ea"/>
        <a:cs typeface="+mn-cs"/>
      </a:defRPr>
    </a:lvl7pPr>
    <a:lvl8pPr marL="3201040" algn="l" defTabSz="914583" rtl="0" eaLnBrk="1" latinLnBrk="0" hangingPunct="1">
      <a:defRPr sz="3001" kern="1200">
        <a:solidFill>
          <a:schemeClr val="tx1"/>
        </a:solidFill>
        <a:latin typeface="Arial" charset="0"/>
        <a:ea typeface="+mn-ea"/>
        <a:cs typeface="+mn-cs"/>
      </a:defRPr>
    </a:lvl8pPr>
    <a:lvl9pPr marL="3658332" algn="l" defTabSz="914583" rtl="0" eaLnBrk="1" latinLnBrk="0" hangingPunct="1">
      <a:defRPr sz="300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00"/>
    <a:srgbClr val="5F5F5F"/>
    <a:srgbClr val="333333"/>
    <a:srgbClr val="F2FADC"/>
    <a:srgbClr val="E7F2CA"/>
    <a:srgbClr val="F8F8F8"/>
    <a:srgbClr val="D7E6D6"/>
    <a:srgbClr val="E0FF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987"/>
    <p:restoredTop sz="94660"/>
  </p:normalViewPr>
  <p:slideViewPr>
    <p:cSldViewPr>
      <p:cViewPr>
        <p:scale>
          <a:sx n="66" d="100"/>
          <a:sy n="66" d="100"/>
        </p:scale>
        <p:origin x="-780" y="-1356"/>
      </p:cViewPr>
      <p:guideLst>
        <p:guide orient="horz" pos="13482"/>
        <p:guide pos="953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3076" name="Rectangle 4"/>
          <p:cNvSpPr>
            <a:spLocks noGrp="1" noRot="1" noChangeAspect="1" noChangeArrowheads="1" noTextEdit="1"/>
          </p:cNvSpPr>
          <p:nvPr>
            <p:ph type="sldImg" idx="2"/>
          </p:nvPr>
        </p:nvSpPr>
        <p:spPr bwMode="auto">
          <a:xfrm>
            <a:off x="2216150" y="685800"/>
            <a:ext cx="24257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C8610BA6-07B8-489C-A9BE-90AFA0292F47}" type="slidenum">
              <a:rPr lang="en-US"/>
              <a:pPr>
                <a:defRPr/>
              </a:pPr>
              <a:t>‹Nº›</a:t>
            </a:fld>
            <a:endParaRPr lang="en-US" dirty="0"/>
          </a:p>
        </p:txBody>
      </p:sp>
    </p:spTree>
    <p:extLst>
      <p:ext uri="{BB962C8B-B14F-4D97-AF65-F5344CB8AC3E}">
        <p14:creationId xmlns:p14="http://schemas.microsoft.com/office/powerpoint/2010/main" val="37559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91" algn="l" rtl="0" eaLnBrk="0" fontAlgn="base" hangingPunct="0">
      <a:spcBef>
        <a:spcPct val="30000"/>
      </a:spcBef>
      <a:spcAft>
        <a:spcPct val="0"/>
      </a:spcAft>
      <a:defRPr sz="1200" kern="1200">
        <a:solidFill>
          <a:schemeClr val="tx1"/>
        </a:solidFill>
        <a:latin typeface="Arial" charset="0"/>
        <a:ea typeface="+mn-ea"/>
        <a:cs typeface="+mn-cs"/>
      </a:defRPr>
    </a:lvl2pPr>
    <a:lvl3pPr marL="914583" algn="l" rtl="0" eaLnBrk="0" fontAlgn="base" hangingPunct="0">
      <a:spcBef>
        <a:spcPct val="30000"/>
      </a:spcBef>
      <a:spcAft>
        <a:spcPct val="0"/>
      </a:spcAft>
      <a:defRPr sz="1200" kern="1200">
        <a:solidFill>
          <a:schemeClr val="tx1"/>
        </a:solidFill>
        <a:latin typeface="Arial" charset="0"/>
        <a:ea typeface="+mn-ea"/>
        <a:cs typeface="+mn-cs"/>
      </a:defRPr>
    </a:lvl3pPr>
    <a:lvl4pPr marL="1371874" algn="l" rtl="0" eaLnBrk="0" fontAlgn="base" hangingPunct="0">
      <a:spcBef>
        <a:spcPct val="30000"/>
      </a:spcBef>
      <a:spcAft>
        <a:spcPct val="0"/>
      </a:spcAft>
      <a:defRPr sz="1200" kern="1200">
        <a:solidFill>
          <a:schemeClr val="tx1"/>
        </a:solidFill>
        <a:latin typeface="Arial" charset="0"/>
        <a:ea typeface="+mn-ea"/>
        <a:cs typeface="+mn-cs"/>
      </a:defRPr>
    </a:lvl4pPr>
    <a:lvl5pPr marL="1829166" algn="l" rtl="0" eaLnBrk="0" fontAlgn="base" hangingPunct="0">
      <a:spcBef>
        <a:spcPct val="30000"/>
      </a:spcBef>
      <a:spcAft>
        <a:spcPct val="0"/>
      </a:spcAft>
      <a:defRPr sz="1200" kern="1200">
        <a:solidFill>
          <a:schemeClr val="tx1"/>
        </a:solidFill>
        <a:latin typeface="Arial" charset="0"/>
        <a:ea typeface="+mn-ea"/>
        <a:cs typeface="+mn-cs"/>
      </a:defRPr>
    </a:lvl5pPr>
    <a:lvl6pPr marL="2286457" algn="l" defTabSz="914583" rtl="0" eaLnBrk="1" latinLnBrk="0" hangingPunct="1">
      <a:defRPr sz="1200" kern="1200">
        <a:solidFill>
          <a:schemeClr val="tx1"/>
        </a:solidFill>
        <a:latin typeface="+mn-lt"/>
        <a:ea typeface="+mn-ea"/>
        <a:cs typeface="+mn-cs"/>
      </a:defRPr>
    </a:lvl6pPr>
    <a:lvl7pPr marL="2743749" algn="l" defTabSz="914583" rtl="0" eaLnBrk="1" latinLnBrk="0" hangingPunct="1">
      <a:defRPr sz="1200" kern="1200">
        <a:solidFill>
          <a:schemeClr val="tx1"/>
        </a:solidFill>
        <a:latin typeface="+mn-lt"/>
        <a:ea typeface="+mn-ea"/>
        <a:cs typeface="+mn-cs"/>
      </a:defRPr>
    </a:lvl7pPr>
    <a:lvl8pPr marL="3201040" algn="l" defTabSz="914583" rtl="0" eaLnBrk="1" latinLnBrk="0" hangingPunct="1">
      <a:defRPr sz="1200" kern="1200">
        <a:solidFill>
          <a:schemeClr val="tx1"/>
        </a:solidFill>
        <a:latin typeface="+mn-lt"/>
        <a:ea typeface="+mn-ea"/>
        <a:cs typeface="+mn-cs"/>
      </a:defRPr>
    </a:lvl8pPr>
    <a:lvl9pPr marL="3658332" algn="l" defTabSz="91458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3000">
                <a:solidFill>
                  <a:schemeClr val="tx1"/>
                </a:solidFill>
                <a:latin typeface="Arial" charset="0"/>
              </a:defRPr>
            </a:lvl1pPr>
            <a:lvl2pPr marL="742950" indent="-285750" eaLnBrk="0" hangingPunct="0">
              <a:defRPr sz="3000">
                <a:solidFill>
                  <a:schemeClr val="tx1"/>
                </a:solidFill>
                <a:latin typeface="Arial" charset="0"/>
              </a:defRPr>
            </a:lvl2pPr>
            <a:lvl3pPr marL="1143000" indent="-228600" eaLnBrk="0" hangingPunct="0">
              <a:defRPr sz="3000">
                <a:solidFill>
                  <a:schemeClr val="tx1"/>
                </a:solidFill>
                <a:latin typeface="Arial" charset="0"/>
              </a:defRPr>
            </a:lvl3pPr>
            <a:lvl4pPr marL="1600200" indent="-228600" eaLnBrk="0" hangingPunct="0">
              <a:defRPr sz="3000">
                <a:solidFill>
                  <a:schemeClr val="tx1"/>
                </a:solidFill>
                <a:latin typeface="Arial" charset="0"/>
              </a:defRPr>
            </a:lvl4pPr>
            <a:lvl5pPr marL="2057400" indent="-228600" eaLnBrk="0" hangingPunct="0">
              <a:defRPr sz="3000">
                <a:solidFill>
                  <a:schemeClr val="tx1"/>
                </a:solidFill>
                <a:latin typeface="Arial" charset="0"/>
              </a:defRPr>
            </a:lvl5pPr>
            <a:lvl6pPr marL="2514600" indent="-228600" eaLnBrk="0" fontAlgn="base" hangingPunct="0">
              <a:spcBef>
                <a:spcPct val="0"/>
              </a:spcBef>
              <a:spcAft>
                <a:spcPct val="0"/>
              </a:spcAft>
              <a:defRPr sz="3000">
                <a:solidFill>
                  <a:schemeClr val="tx1"/>
                </a:solidFill>
                <a:latin typeface="Arial" charset="0"/>
              </a:defRPr>
            </a:lvl6pPr>
            <a:lvl7pPr marL="2971800" indent="-228600" eaLnBrk="0" fontAlgn="base" hangingPunct="0">
              <a:spcBef>
                <a:spcPct val="0"/>
              </a:spcBef>
              <a:spcAft>
                <a:spcPct val="0"/>
              </a:spcAft>
              <a:defRPr sz="3000">
                <a:solidFill>
                  <a:schemeClr val="tx1"/>
                </a:solidFill>
                <a:latin typeface="Arial" charset="0"/>
              </a:defRPr>
            </a:lvl7pPr>
            <a:lvl8pPr marL="3429000" indent="-228600" eaLnBrk="0" fontAlgn="base" hangingPunct="0">
              <a:spcBef>
                <a:spcPct val="0"/>
              </a:spcBef>
              <a:spcAft>
                <a:spcPct val="0"/>
              </a:spcAft>
              <a:defRPr sz="3000">
                <a:solidFill>
                  <a:schemeClr val="tx1"/>
                </a:solidFill>
                <a:latin typeface="Arial" charset="0"/>
              </a:defRPr>
            </a:lvl8pPr>
            <a:lvl9pPr marL="3886200" indent="-228600" eaLnBrk="0" fontAlgn="base" hangingPunct="0">
              <a:spcBef>
                <a:spcPct val="0"/>
              </a:spcBef>
              <a:spcAft>
                <a:spcPct val="0"/>
              </a:spcAft>
              <a:defRPr sz="3000">
                <a:solidFill>
                  <a:schemeClr val="tx1"/>
                </a:solidFill>
                <a:latin typeface="Arial" charset="0"/>
              </a:defRPr>
            </a:lvl9pPr>
          </a:lstStyle>
          <a:p>
            <a:pPr eaLnBrk="1" hangingPunct="1"/>
            <a:fld id="{434A7F40-6702-4B93-981E-B306F36A17A3}" type="slidenum">
              <a:rPr lang="en-US" sz="1200" smtClean="0"/>
              <a:pPr eaLnBrk="1" hangingPunct="1"/>
              <a:t>1</a:t>
            </a:fld>
            <a:endParaRPr lang="en-US" sz="1200" dirty="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446340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837" y="13297736"/>
            <a:ext cx="25733542" cy="9173414"/>
          </a:xfrm>
        </p:spPr>
        <p:txBody>
          <a:bodyPr/>
          <a:lstStyle/>
          <a:p>
            <a:r>
              <a:rPr lang="en-US"/>
              <a:t>Click to edit Master title style</a:t>
            </a:r>
          </a:p>
        </p:txBody>
      </p:sp>
      <p:sp>
        <p:nvSpPr>
          <p:cNvPr id="3" name="Subtitle 2"/>
          <p:cNvSpPr>
            <a:spLocks noGrp="1"/>
          </p:cNvSpPr>
          <p:nvPr>
            <p:ph type="subTitle" idx="1"/>
          </p:nvPr>
        </p:nvSpPr>
        <p:spPr>
          <a:xfrm>
            <a:off x="4541672" y="24254640"/>
            <a:ext cx="21191870" cy="10940392"/>
          </a:xfrm>
        </p:spPr>
        <p:txBody>
          <a:bodyPr/>
          <a:lstStyle>
            <a:lvl1pPr marL="0" indent="0" algn="ctr">
              <a:buNone/>
              <a:defRPr/>
            </a:lvl1pPr>
            <a:lvl2pPr marL="457291" indent="0" algn="ctr">
              <a:buNone/>
              <a:defRPr/>
            </a:lvl2pPr>
            <a:lvl3pPr marL="914583" indent="0" algn="ctr">
              <a:buNone/>
              <a:defRPr/>
            </a:lvl3pPr>
            <a:lvl4pPr marL="1371874" indent="0" algn="ctr">
              <a:buNone/>
              <a:defRPr/>
            </a:lvl4pPr>
            <a:lvl5pPr marL="1829166" indent="0" algn="ctr">
              <a:buNone/>
              <a:defRPr/>
            </a:lvl5pPr>
            <a:lvl6pPr marL="2286457" indent="0" algn="ctr">
              <a:buNone/>
              <a:defRPr/>
            </a:lvl6pPr>
            <a:lvl7pPr marL="2743749" indent="0" algn="ctr">
              <a:buNone/>
              <a:defRPr/>
            </a:lvl7pPr>
            <a:lvl8pPr marL="3201040" indent="0" algn="ctr">
              <a:buNone/>
              <a:defRPr/>
            </a:lvl8pPr>
            <a:lvl9pPr marL="3658332"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BC1CF159-66FC-4767-8C5E-F02FEB5911A4}" type="slidenum">
              <a:rPr lang="en-US"/>
              <a:pPr>
                <a:defRPr/>
              </a:pPr>
              <a:t>‹Nº›</a:t>
            </a:fld>
            <a:endParaRPr lang="en-US" dirty="0"/>
          </a:p>
        </p:txBody>
      </p:sp>
    </p:spTree>
    <p:extLst>
      <p:ext uri="{BB962C8B-B14F-4D97-AF65-F5344CB8AC3E}">
        <p14:creationId xmlns:p14="http://schemas.microsoft.com/office/powerpoint/2010/main" val="371332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EE0C4C12-7745-427A-A7DA-B5990F546A23}" type="slidenum">
              <a:rPr lang="en-US"/>
              <a:pPr>
                <a:defRPr/>
              </a:pPr>
              <a:t>‹Nº›</a:t>
            </a:fld>
            <a:endParaRPr lang="en-US" dirty="0"/>
          </a:p>
        </p:txBody>
      </p:sp>
    </p:spTree>
    <p:extLst>
      <p:ext uri="{BB962C8B-B14F-4D97-AF65-F5344CB8AC3E}">
        <p14:creationId xmlns:p14="http://schemas.microsoft.com/office/powerpoint/2010/main" val="3763419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533" y="27505799"/>
            <a:ext cx="25733542" cy="8500477"/>
          </a:xfrm>
        </p:spPr>
        <p:txBody>
          <a:bodyPr anchor="t"/>
          <a:lstStyle>
            <a:lvl1pPr algn="l">
              <a:defRPr sz="4001" b="1" cap="all"/>
            </a:lvl1pPr>
          </a:lstStyle>
          <a:p>
            <a:r>
              <a:rPr lang="en-US"/>
              <a:t>Click to edit Master title style</a:t>
            </a:r>
          </a:p>
        </p:txBody>
      </p:sp>
      <p:sp>
        <p:nvSpPr>
          <p:cNvPr id="3" name="Text Placeholder 2"/>
          <p:cNvSpPr>
            <a:spLocks noGrp="1"/>
          </p:cNvSpPr>
          <p:nvPr>
            <p:ph type="body" idx="1"/>
          </p:nvPr>
        </p:nvSpPr>
        <p:spPr>
          <a:xfrm>
            <a:off x="2391533" y="18142471"/>
            <a:ext cx="25733542" cy="936332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3A1D44F2-1B7E-4EB2-886B-FA41083F5B8A}" type="slidenum">
              <a:rPr lang="en-US"/>
              <a:pPr>
                <a:defRPr/>
              </a:pPr>
              <a:t>‹Nº›</a:t>
            </a:fld>
            <a:endParaRPr lang="en-US" dirty="0"/>
          </a:p>
        </p:txBody>
      </p:sp>
    </p:spTree>
    <p:extLst>
      <p:ext uri="{BB962C8B-B14F-4D97-AF65-F5344CB8AC3E}">
        <p14:creationId xmlns:p14="http://schemas.microsoft.com/office/powerpoint/2010/main" val="2564749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14539" y="9988787"/>
            <a:ext cx="13576347" cy="28248914"/>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184330" y="9988787"/>
            <a:ext cx="13577319" cy="28248914"/>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C017F84-F069-430C-9619-E3C91D0AAA1F}" type="slidenum">
              <a:rPr lang="en-US"/>
              <a:pPr>
                <a:defRPr/>
              </a:pPr>
              <a:t>‹Nº›</a:t>
            </a:fld>
            <a:endParaRPr lang="en-US" dirty="0"/>
          </a:p>
        </p:txBody>
      </p:sp>
    </p:spTree>
    <p:extLst>
      <p:ext uri="{BB962C8B-B14F-4D97-AF65-F5344CB8AC3E}">
        <p14:creationId xmlns:p14="http://schemas.microsoft.com/office/powerpoint/2010/main" val="2002791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568" y="1713307"/>
            <a:ext cx="27248081" cy="7133961"/>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13566" y="9582135"/>
            <a:ext cx="13376809" cy="39922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566" y="13574344"/>
            <a:ext cx="13376809" cy="2466129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379000" y="9582135"/>
            <a:ext cx="13382649" cy="39922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000" y="13574344"/>
            <a:ext cx="13382649" cy="2466129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43F05EA4-E5FF-4D18-8040-74003E0B3A37}" type="slidenum">
              <a:rPr lang="en-US"/>
              <a:pPr>
                <a:defRPr/>
              </a:pPr>
              <a:t>‹Nº›</a:t>
            </a:fld>
            <a:endParaRPr lang="en-US" dirty="0"/>
          </a:p>
        </p:txBody>
      </p:sp>
    </p:spTree>
    <p:extLst>
      <p:ext uri="{BB962C8B-B14F-4D97-AF65-F5344CB8AC3E}">
        <p14:creationId xmlns:p14="http://schemas.microsoft.com/office/powerpoint/2010/main" val="3051030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D426141C-46B6-48AA-A436-F6BC2EB1DF07}" type="slidenum">
              <a:rPr lang="en-US"/>
              <a:pPr>
                <a:defRPr/>
              </a:pPr>
              <a:t>‹Nº›</a:t>
            </a:fld>
            <a:endParaRPr lang="en-US" dirty="0"/>
          </a:p>
        </p:txBody>
      </p:sp>
    </p:spTree>
    <p:extLst>
      <p:ext uri="{BB962C8B-B14F-4D97-AF65-F5344CB8AC3E}">
        <p14:creationId xmlns:p14="http://schemas.microsoft.com/office/powerpoint/2010/main" val="62043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A624E45A-27AB-4CA6-A245-AC6C4B10EBC1}" type="slidenum">
              <a:rPr lang="en-US"/>
              <a:pPr>
                <a:defRPr/>
              </a:pPr>
              <a:t>‹Nº›</a:t>
            </a:fld>
            <a:endParaRPr lang="en-US" dirty="0"/>
          </a:p>
        </p:txBody>
      </p:sp>
    </p:spTree>
    <p:extLst>
      <p:ext uri="{BB962C8B-B14F-4D97-AF65-F5344CB8AC3E}">
        <p14:creationId xmlns:p14="http://schemas.microsoft.com/office/powerpoint/2010/main" val="3284960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566" y="1705051"/>
            <a:ext cx="9960336" cy="7251622"/>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1836963" y="1705052"/>
            <a:ext cx="16924685" cy="36530584"/>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13566" y="8956671"/>
            <a:ext cx="9960336" cy="29278963"/>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B94268F0-4A5F-48B9-98F3-928F12A565E5}" type="slidenum">
              <a:rPr lang="en-US"/>
              <a:pPr>
                <a:defRPr/>
              </a:pPr>
              <a:t>‹Nº›</a:t>
            </a:fld>
            <a:endParaRPr lang="en-US" dirty="0"/>
          </a:p>
        </p:txBody>
      </p:sp>
    </p:spTree>
    <p:extLst>
      <p:ext uri="{BB962C8B-B14F-4D97-AF65-F5344CB8AC3E}">
        <p14:creationId xmlns:p14="http://schemas.microsoft.com/office/powerpoint/2010/main" val="2098192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542" y="29962226"/>
            <a:ext cx="18164739" cy="353808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5934542" y="3825011"/>
            <a:ext cx="18164739" cy="25681019"/>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en-US" noProof="0" dirty="0"/>
          </a:p>
        </p:txBody>
      </p:sp>
      <p:sp>
        <p:nvSpPr>
          <p:cNvPr id="4" name="Text Placeholder 3"/>
          <p:cNvSpPr>
            <a:spLocks noGrp="1"/>
          </p:cNvSpPr>
          <p:nvPr>
            <p:ph type="body" sz="half" idx="2"/>
          </p:nvPr>
        </p:nvSpPr>
        <p:spPr>
          <a:xfrm>
            <a:off x="5934542" y="33500306"/>
            <a:ext cx="18164739" cy="502225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6DDB8519-B07B-4707-A310-EBC9A0D1094F}" type="slidenum">
              <a:rPr lang="en-US"/>
              <a:pPr>
                <a:defRPr/>
              </a:pPr>
              <a:t>‹Nº›</a:t>
            </a:fld>
            <a:endParaRPr lang="en-US" dirty="0"/>
          </a:p>
        </p:txBody>
      </p:sp>
    </p:spTree>
    <p:extLst>
      <p:ext uri="{BB962C8B-B14F-4D97-AF65-F5344CB8AC3E}">
        <p14:creationId xmlns:p14="http://schemas.microsoft.com/office/powerpoint/2010/main" val="2488410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17F80D62-9C20-4F3C-BE7A-2565F13A6979}" type="slidenum">
              <a:rPr lang="en-US"/>
              <a:pPr>
                <a:defRPr/>
              </a:pPr>
              <a:t>‹Nº›</a:t>
            </a:fld>
            <a:endParaRPr lang="en-US" dirty="0"/>
          </a:p>
        </p:txBody>
      </p:sp>
    </p:spTree>
    <p:extLst>
      <p:ext uri="{BB962C8B-B14F-4D97-AF65-F5344CB8AC3E}">
        <p14:creationId xmlns:p14="http://schemas.microsoft.com/office/powerpoint/2010/main" val="4033856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50114" y="1715374"/>
            <a:ext cx="6811534" cy="365223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14540" y="1715374"/>
            <a:ext cx="20342133" cy="365223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E9E9D61F-A30B-4FFC-B56B-414DA4069107}" type="slidenum">
              <a:rPr lang="en-US"/>
              <a:pPr>
                <a:defRPr/>
              </a:pPr>
              <a:t>‹Nº›</a:t>
            </a:fld>
            <a:endParaRPr lang="en-US" dirty="0"/>
          </a:p>
        </p:txBody>
      </p:sp>
    </p:spTree>
    <p:extLst>
      <p:ext uri="{BB962C8B-B14F-4D97-AF65-F5344CB8AC3E}">
        <p14:creationId xmlns:p14="http://schemas.microsoft.com/office/powerpoint/2010/main" val="4095723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14873" y="1716470"/>
            <a:ext cx="27247057" cy="713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1514873" y="9989186"/>
            <a:ext cx="27247057" cy="28247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514872" y="38980212"/>
            <a:ext cx="7064640" cy="297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numCol="1" anchor="t" anchorCtr="0" compatLnSpc="1">
            <a:prstTxWarp prst="textNoShape">
              <a:avLst/>
            </a:prstTxWarp>
          </a:bodyPr>
          <a:lstStyle>
            <a:lvl1pPr defTabSz="4704704">
              <a:defRPr sz="7201"/>
            </a:lvl1pPr>
          </a:lstStyle>
          <a:p>
            <a:pPr>
              <a:defRPr/>
            </a:pPr>
            <a:endParaRPr lang="en-US" dirty="0"/>
          </a:p>
        </p:txBody>
      </p:sp>
      <p:sp>
        <p:nvSpPr>
          <p:cNvPr id="1029" name="Rectangle 5"/>
          <p:cNvSpPr>
            <a:spLocks noGrp="1" noChangeArrowheads="1"/>
          </p:cNvSpPr>
          <p:nvPr>
            <p:ph type="ftr" sz="quarter" idx="3"/>
          </p:nvPr>
        </p:nvSpPr>
        <p:spPr bwMode="auto">
          <a:xfrm>
            <a:off x="10345276" y="38980212"/>
            <a:ext cx="9586250" cy="297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numCol="1" anchor="t" anchorCtr="0" compatLnSpc="1">
            <a:prstTxWarp prst="textNoShape">
              <a:avLst/>
            </a:prstTxWarp>
          </a:bodyPr>
          <a:lstStyle>
            <a:lvl1pPr algn="ctr" defTabSz="4704704">
              <a:defRPr sz="7201"/>
            </a:lvl1pPr>
          </a:lstStyle>
          <a:p>
            <a:pPr>
              <a:defRPr/>
            </a:pPr>
            <a:endParaRPr lang="en-US" dirty="0"/>
          </a:p>
        </p:txBody>
      </p:sp>
      <p:sp>
        <p:nvSpPr>
          <p:cNvPr id="1030" name="Rectangle 6"/>
          <p:cNvSpPr>
            <a:spLocks noGrp="1" noChangeArrowheads="1"/>
          </p:cNvSpPr>
          <p:nvPr>
            <p:ph type="sldNum" sz="quarter" idx="4"/>
          </p:nvPr>
        </p:nvSpPr>
        <p:spPr bwMode="auto">
          <a:xfrm>
            <a:off x="21697289" y="38980212"/>
            <a:ext cx="7064640" cy="297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numCol="1" anchor="t" anchorCtr="0" compatLnSpc="1">
            <a:prstTxWarp prst="textNoShape">
              <a:avLst/>
            </a:prstTxWarp>
          </a:bodyPr>
          <a:lstStyle>
            <a:lvl1pPr algn="r" defTabSz="4704704">
              <a:defRPr sz="7201"/>
            </a:lvl1pPr>
          </a:lstStyle>
          <a:p>
            <a:pPr>
              <a:defRPr/>
            </a:pPr>
            <a:fld id="{BEE97B82-EFE2-420F-B8C7-F7F46EC21193}" type="slidenum">
              <a:rPr lang="en-US"/>
              <a:pPr>
                <a:defRPr/>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704704" rtl="0" eaLnBrk="0" fontAlgn="base" hangingPunct="0">
        <a:spcBef>
          <a:spcPct val="0"/>
        </a:spcBef>
        <a:spcAft>
          <a:spcPct val="0"/>
        </a:spcAft>
        <a:defRPr sz="22705">
          <a:solidFill>
            <a:schemeClr val="tx2"/>
          </a:solidFill>
          <a:latin typeface="+mj-lt"/>
          <a:ea typeface="+mj-ea"/>
          <a:cs typeface="+mj-cs"/>
        </a:defRPr>
      </a:lvl1pPr>
      <a:lvl2pPr algn="ctr" defTabSz="4704704" rtl="0" eaLnBrk="0" fontAlgn="base" hangingPunct="0">
        <a:spcBef>
          <a:spcPct val="0"/>
        </a:spcBef>
        <a:spcAft>
          <a:spcPct val="0"/>
        </a:spcAft>
        <a:defRPr sz="22705">
          <a:solidFill>
            <a:schemeClr val="tx2"/>
          </a:solidFill>
          <a:latin typeface="Arial" charset="0"/>
        </a:defRPr>
      </a:lvl2pPr>
      <a:lvl3pPr algn="ctr" defTabSz="4704704" rtl="0" eaLnBrk="0" fontAlgn="base" hangingPunct="0">
        <a:spcBef>
          <a:spcPct val="0"/>
        </a:spcBef>
        <a:spcAft>
          <a:spcPct val="0"/>
        </a:spcAft>
        <a:defRPr sz="22705">
          <a:solidFill>
            <a:schemeClr val="tx2"/>
          </a:solidFill>
          <a:latin typeface="Arial" charset="0"/>
        </a:defRPr>
      </a:lvl3pPr>
      <a:lvl4pPr algn="ctr" defTabSz="4704704" rtl="0" eaLnBrk="0" fontAlgn="base" hangingPunct="0">
        <a:spcBef>
          <a:spcPct val="0"/>
        </a:spcBef>
        <a:spcAft>
          <a:spcPct val="0"/>
        </a:spcAft>
        <a:defRPr sz="22705">
          <a:solidFill>
            <a:schemeClr val="tx2"/>
          </a:solidFill>
          <a:latin typeface="Arial" charset="0"/>
        </a:defRPr>
      </a:lvl4pPr>
      <a:lvl5pPr algn="ctr" defTabSz="4704704" rtl="0" eaLnBrk="0" fontAlgn="base" hangingPunct="0">
        <a:spcBef>
          <a:spcPct val="0"/>
        </a:spcBef>
        <a:spcAft>
          <a:spcPct val="0"/>
        </a:spcAft>
        <a:defRPr sz="22705">
          <a:solidFill>
            <a:schemeClr val="tx2"/>
          </a:solidFill>
          <a:latin typeface="Arial" charset="0"/>
        </a:defRPr>
      </a:lvl5pPr>
      <a:lvl6pPr marL="457291" algn="ctr" defTabSz="4704704" rtl="0" fontAlgn="base">
        <a:spcBef>
          <a:spcPct val="0"/>
        </a:spcBef>
        <a:spcAft>
          <a:spcPct val="0"/>
        </a:spcAft>
        <a:defRPr sz="22705">
          <a:solidFill>
            <a:schemeClr val="tx2"/>
          </a:solidFill>
          <a:latin typeface="Arial" charset="0"/>
        </a:defRPr>
      </a:lvl6pPr>
      <a:lvl7pPr marL="914583" algn="ctr" defTabSz="4704704" rtl="0" fontAlgn="base">
        <a:spcBef>
          <a:spcPct val="0"/>
        </a:spcBef>
        <a:spcAft>
          <a:spcPct val="0"/>
        </a:spcAft>
        <a:defRPr sz="22705">
          <a:solidFill>
            <a:schemeClr val="tx2"/>
          </a:solidFill>
          <a:latin typeface="Arial" charset="0"/>
        </a:defRPr>
      </a:lvl7pPr>
      <a:lvl8pPr marL="1371874" algn="ctr" defTabSz="4704704" rtl="0" fontAlgn="base">
        <a:spcBef>
          <a:spcPct val="0"/>
        </a:spcBef>
        <a:spcAft>
          <a:spcPct val="0"/>
        </a:spcAft>
        <a:defRPr sz="22705">
          <a:solidFill>
            <a:schemeClr val="tx2"/>
          </a:solidFill>
          <a:latin typeface="Arial" charset="0"/>
        </a:defRPr>
      </a:lvl8pPr>
      <a:lvl9pPr marL="1829166" algn="ctr" defTabSz="4704704" rtl="0" fontAlgn="base">
        <a:spcBef>
          <a:spcPct val="0"/>
        </a:spcBef>
        <a:spcAft>
          <a:spcPct val="0"/>
        </a:spcAft>
        <a:defRPr sz="22705">
          <a:solidFill>
            <a:schemeClr val="tx2"/>
          </a:solidFill>
          <a:latin typeface="Arial" charset="0"/>
        </a:defRPr>
      </a:lvl9pPr>
    </p:titleStyle>
    <p:bodyStyle>
      <a:lvl1pPr marL="1765653" indent="-1765653" algn="l" defTabSz="4704704" rtl="0" eaLnBrk="0" fontAlgn="base" hangingPunct="0">
        <a:spcBef>
          <a:spcPct val="20000"/>
        </a:spcBef>
        <a:spcAft>
          <a:spcPct val="0"/>
        </a:spcAft>
        <a:buChar char="•"/>
        <a:defRPr sz="16503">
          <a:solidFill>
            <a:schemeClr val="tx1"/>
          </a:solidFill>
          <a:latin typeface="+mn-lt"/>
          <a:ea typeface="+mn-ea"/>
          <a:cs typeface="+mn-cs"/>
        </a:defRPr>
      </a:lvl1pPr>
      <a:lvl2pPr marL="3823465" indent="-1471907" algn="l" defTabSz="4704704" rtl="0" eaLnBrk="0" fontAlgn="base" hangingPunct="0">
        <a:spcBef>
          <a:spcPct val="20000"/>
        </a:spcBef>
        <a:spcAft>
          <a:spcPct val="0"/>
        </a:spcAft>
        <a:buChar char="–"/>
        <a:defRPr sz="14403">
          <a:solidFill>
            <a:schemeClr val="tx1"/>
          </a:solidFill>
          <a:latin typeface="+mn-lt"/>
        </a:defRPr>
      </a:lvl2pPr>
      <a:lvl3pPr marL="5881276" indent="-1176573" algn="l" defTabSz="4704704" rtl="0" eaLnBrk="0" fontAlgn="base" hangingPunct="0">
        <a:spcBef>
          <a:spcPct val="20000"/>
        </a:spcBef>
        <a:spcAft>
          <a:spcPct val="0"/>
        </a:spcAft>
        <a:buChar char="•"/>
        <a:defRPr sz="12302">
          <a:solidFill>
            <a:schemeClr val="tx1"/>
          </a:solidFill>
          <a:latin typeface="+mn-lt"/>
        </a:defRPr>
      </a:lvl3pPr>
      <a:lvl4pPr marL="8231246" indent="-1176573" algn="l" defTabSz="4704704" rtl="0" eaLnBrk="0" fontAlgn="base" hangingPunct="0">
        <a:spcBef>
          <a:spcPct val="20000"/>
        </a:spcBef>
        <a:spcAft>
          <a:spcPct val="0"/>
        </a:spcAft>
        <a:buChar char="–"/>
        <a:defRPr sz="10402">
          <a:solidFill>
            <a:schemeClr val="tx1"/>
          </a:solidFill>
          <a:latin typeface="+mn-lt"/>
        </a:defRPr>
      </a:lvl4pPr>
      <a:lvl5pPr marL="10582804" indent="-1174985" algn="l" defTabSz="4704704" rtl="0" eaLnBrk="0" fontAlgn="base" hangingPunct="0">
        <a:spcBef>
          <a:spcPct val="20000"/>
        </a:spcBef>
        <a:spcAft>
          <a:spcPct val="0"/>
        </a:spcAft>
        <a:buChar char="»"/>
        <a:defRPr sz="10402">
          <a:solidFill>
            <a:schemeClr val="tx1"/>
          </a:solidFill>
          <a:latin typeface="+mn-lt"/>
        </a:defRPr>
      </a:lvl5pPr>
      <a:lvl6pPr marL="11040096" indent="-1174985" algn="l" defTabSz="4704704" rtl="0" fontAlgn="base">
        <a:spcBef>
          <a:spcPct val="20000"/>
        </a:spcBef>
        <a:spcAft>
          <a:spcPct val="0"/>
        </a:spcAft>
        <a:buChar char="»"/>
        <a:defRPr sz="10402">
          <a:solidFill>
            <a:schemeClr val="tx1"/>
          </a:solidFill>
          <a:latin typeface="+mn-lt"/>
        </a:defRPr>
      </a:lvl6pPr>
      <a:lvl7pPr marL="11497387" indent="-1174985" algn="l" defTabSz="4704704" rtl="0" fontAlgn="base">
        <a:spcBef>
          <a:spcPct val="20000"/>
        </a:spcBef>
        <a:spcAft>
          <a:spcPct val="0"/>
        </a:spcAft>
        <a:buChar char="»"/>
        <a:defRPr sz="10402">
          <a:solidFill>
            <a:schemeClr val="tx1"/>
          </a:solidFill>
          <a:latin typeface="+mn-lt"/>
        </a:defRPr>
      </a:lvl7pPr>
      <a:lvl8pPr marL="11954678" indent="-1174985" algn="l" defTabSz="4704704" rtl="0" fontAlgn="base">
        <a:spcBef>
          <a:spcPct val="20000"/>
        </a:spcBef>
        <a:spcAft>
          <a:spcPct val="0"/>
        </a:spcAft>
        <a:buChar char="»"/>
        <a:defRPr sz="10402">
          <a:solidFill>
            <a:schemeClr val="tx1"/>
          </a:solidFill>
          <a:latin typeface="+mn-lt"/>
        </a:defRPr>
      </a:lvl8pPr>
      <a:lvl9pPr marL="12411970" indent="-1174985" algn="l" defTabSz="4704704" rtl="0" fontAlgn="base">
        <a:spcBef>
          <a:spcPct val="20000"/>
        </a:spcBef>
        <a:spcAft>
          <a:spcPct val="0"/>
        </a:spcAft>
        <a:buChar char="»"/>
        <a:defRPr sz="10402">
          <a:solidFill>
            <a:schemeClr val="tx1"/>
          </a:solidFill>
          <a:latin typeface="+mn-lt"/>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n generada">
            <a:extLst>
              <a:ext uri="{FF2B5EF4-FFF2-40B4-BE49-F238E27FC236}">
                <a16:creationId xmlns:a16="http://schemas.microsoft.com/office/drawing/2014/main" id="{450584C9-30FC-563B-AEAC-8086EF335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3616" y="29279719"/>
            <a:ext cx="9343797" cy="9916758"/>
          </a:xfrm>
          <a:prstGeom prst="rect">
            <a:avLst/>
          </a:prstGeom>
          <a:noFill/>
          <a:extLst>
            <a:ext uri="{909E8E84-426E-40DD-AFC4-6F175D3DCCD1}">
              <a14:hiddenFill xmlns:a14="http://schemas.microsoft.com/office/drawing/2010/main">
                <a:solidFill>
                  <a:srgbClr val="FFFFFF"/>
                </a:solidFill>
              </a14:hiddenFill>
            </a:ext>
          </a:extLst>
        </p:spPr>
      </p:pic>
      <p:sp>
        <p:nvSpPr>
          <p:cNvPr id="2050" name="Rectangle 6"/>
          <p:cNvSpPr>
            <a:spLocks noChangeArrowheads="1"/>
          </p:cNvSpPr>
          <p:nvPr/>
        </p:nvSpPr>
        <p:spPr bwMode="auto">
          <a:xfrm>
            <a:off x="275298" y="219980"/>
            <a:ext cx="29631185" cy="6417523"/>
          </a:xfrm>
          <a:prstGeom prst="rect">
            <a:avLst/>
          </a:prstGeom>
          <a:noFill/>
          <a:ln>
            <a:noFill/>
          </a:ln>
        </p:spPr>
        <p:style>
          <a:lnRef idx="0">
            <a:scrgbClr r="0" g="0" b="0"/>
          </a:lnRef>
          <a:fillRef idx="0">
            <a:scrgbClr r="0" g="0" b="0"/>
          </a:fillRef>
          <a:effectRef idx="0">
            <a:scrgbClr r="0" g="0" b="0"/>
          </a:effectRef>
          <a:fontRef idx="minor">
            <a:schemeClr val="dk1"/>
          </a:fontRef>
        </p:style>
        <p:txBody>
          <a:bodyPr lIns="137191" tIns="68595" rIns="137191" bIns="68595" anchor="ctr"/>
          <a:lstStyle/>
          <a:p>
            <a:pPr algn="ctr" defTabSz="4704704"/>
            <a:endParaRPr lang="es-ES" altLang="zh-CN" sz="4001" b="1" dirty="0">
              <a:solidFill>
                <a:schemeClr val="tx2"/>
              </a:solidFill>
              <a:latin typeface="Gill Sans"/>
              <a:ea typeface="SimSun" pitchFamily="2" charset="-122"/>
              <a:cs typeface="Lucida Sans" pitchFamily="34" charset="0"/>
            </a:endParaRPr>
          </a:p>
        </p:txBody>
      </p:sp>
      <p:sp>
        <p:nvSpPr>
          <p:cNvPr id="2060" name="Text Box 402"/>
          <p:cNvSpPr txBox="1">
            <a:spLocks noChangeArrowheads="1"/>
          </p:cNvSpPr>
          <p:nvPr/>
        </p:nvSpPr>
        <p:spPr bwMode="auto">
          <a:xfrm>
            <a:off x="941417" y="7644570"/>
            <a:ext cx="28540701" cy="4078198"/>
          </a:xfrm>
          <a:prstGeom prst="rect">
            <a:avLst/>
          </a:prstGeom>
          <a:ln/>
        </p:spPr>
        <p:style>
          <a:lnRef idx="2">
            <a:schemeClr val="accent2"/>
          </a:lnRef>
          <a:fillRef idx="1">
            <a:schemeClr val="lt1"/>
          </a:fillRef>
          <a:effectRef idx="0">
            <a:schemeClr val="accent2"/>
          </a:effectRef>
          <a:fontRef idx="minor">
            <a:schemeClr val="dk1"/>
          </a:fontRef>
        </p:style>
        <p:txBody>
          <a:bodyPr wrap="square" lIns="137191" tIns="68595" rIns="137191" bIns="68595">
            <a:spAutoFit/>
          </a:bodyPr>
          <a:lstStyle>
            <a:lvl1pPr defTabSz="4703763" eaLnBrk="0" hangingPunct="0">
              <a:defRPr sz="3000">
                <a:solidFill>
                  <a:schemeClr val="tx1"/>
                </a:solidFill>
                <a:latin typeface="Arial" charset="0"/>
              </a:defRPr>
            </a:lvl1pPr>
            <a:lvl2pPr marL="742950" indent="-285750" defTabSz="4703763" eaLnBrk="0" hangingPunct="0">
              <a:defRPr sz="3000">
                <a:solidFill>
                  <a:schemeClr val="tx1"/>
                </a:solidFill>
                <a:latin typeface="Arial" charset="0"/>
              </a:defRPr>
            </a:lvl2pPr>
            <a:lvl3pPr marL="1143000" indent="-228600" defTabSz="4703763" eaLnBrk="0" hangingPunct="0">
              <a:defRPr sz="3000">
                <a:solidFill>
                  <a:schemeClr val="tx1"/>
                </a:solidFill>
                <a:latin typeface="Arial" charset="0"/>
              </a:defRPr>
            </a:lvl3pPr>
            <a:lvl4pPr marL="1600200" indent="-228600" defTabSz="4703763" eaLnBrk="0" hangingPunct="0">
              <a:defRPr sz="3000">
                <a:solidFill>
                  <a:schemeClr val="tx1"/>
                </a:solidFill>
                <a:latin typeface="Arial" charset="0"/>
              </a:defRPr>
            </a:lvl4pPr>
            <a:lvl5pPr marL="2057400" indent="-228600" defTabSz="4703763" eaLnBrk="0" hangingPunct="0">
              <a:defRPr sz="3000">
                <a:solidFill>
                  <a:schemeClr val="tx1"/>
                </a:solidFill>
                <a:latin typeface="Arial" charset="0"/>
              </a:defRPr>
            </a:lvl5pPr>
            <a:lvl6pPr marL="2514600" indent="-228600" defTabSz="4703763" eaLnBrk="0" fontAlgn="base" hangingPunct="0">
              <a:spcBef>
                <a:spcPct val="0"/>
              </a:spcBef>
              <a:spcAft>
                <a:spcPct val="0"/>
              </a:spcAft>
              <a:defRPr sz="3000">
                <a:solidFill>
                  <a:schemeClr val="tx1"/>
                </a:solidFill>
                <a:latin typeface="Arial" charset="0"/>
              </a:defRPr>
            </a:lvl6pPr>
            <a:lvl7pPr marL="2971800" indent="-228600" defTabSz="4703763" eaLnBrk="0" fontAlgn="base" hangingPunct="0">
              <a:spcBef>
                <a:spcPct val="0"/>
              </a:spcBef>
              <a:spcAft>
                <a:spcPct val="0"/>
              </a:spcAft>
              <a:defRPr sz="3000">
                <a:solidFill>
                  <a:schemeClr val="tx1"/>
                </a:solidFill>
                <a:latin typeface="Arial" charset="0"/>
              </a:defRPr>
            </a:lvl7pPr>
            <a:lvl8pPr marL="3429000" indent="-228600" defTabSz="4703763" eaLnBrk="0" fontAlgn="base" hangingPunct="0">
              <a:spcBef>
                <a:spcPct val="0"/>
              </a:spcBef>
              <a:spcAft>
                <a:spcPct val="0"/>
              </a:spcAft>
              <a:defRPr sz="3000">
                <a:solidFill>
                  <a:schemeClr val="tx1"/>
                </a:solidFill>
                <a:latin typeface="Arial" charset="0"/>
              </a:defRPr>
            </a:lvl8pPr>
            <a:lvl9pPr marL="3886200" indent="-228600" defTabSz="4703763" eaLnBrk="0" fontAlgn="base" hangingPunct="0">
              <a:spcBef>
                <a:spcPct val="0"/>
              </a:spcBef>
              <a:spcAft>
                <a:spcPct val="0"/>
              </a:spcAft>
              <a:defRPr sz="3000">
                <a:solidFill>
                  <a:schemeClr val="tx1"/>
                </a:solidFill>
                <a:latin typeface="Arial" charset="0"/>
              </a:defRPr>
            </a:lvl9pPr>
          </a:lstStyle>
          <a:p>
            <a:pPr algn="just"/>
            <a:r>
              <a:rPr lang="es-ES" sz="3201" dirty="0"/>
              <a:t>La tasa de fracaso en el desarrollo de nuevos fármacos es extremadamente alta: se estima que solo </a:t>
            </a:r>
            <a:r>
              <a:rPr lang="es-CL" sz="3200" dirty="0"/>
              <a:t>~10% de los candidatos que llegan a fase clínica son aprobados. Muchos compuestos son abandonados por presentar propiedades farmacocinéticas (ADME) desfavorables. En especial, deficiencias en la absorción oral y permeabilidad intestinal contribuyen notablemente al fracaso preclínico.</a:t>
            </a:r>
          </a:p>
          <a:p>
            <a:pPr algn="just"/>
            <a:r>
              <a:rPr lang="es-CL" sz="3200" dirty="0"/>
              <a:t>El perfil ADME (Absorción, Distribución, Metabolismo, Excreción) describe el destino del fármaco en el organismo. Para fármacos orales, la absorción intestinal (A) es critica, pues determina la fracción de dosis que alcanza la circulación sistémica y, por ende, su biodisponibilidad y eficacia terapéutica. Una baja absorción implica que aun fármacos muy potentes no alcanzaran concentraciones terapéuticas en sangre, es por esto que se considera un ‘’cuello de botella’’ en el desarrollo de fármacos orales. Por tanto, optimizar la ‘A’ de ADME es esencial para el éxito clínico: los modelos de permeabilidad (QSAR/PAMPA) buscan predecir anticipadamente si un compuesto tendrá buena absorción oral.</a:t>
            </a:r>
            <a:endParaRPr lang="es-ES" sz="3201" dirty="0"/>
          </a:p>
        </p:txBody>
      </p:sp>
      <p:sp>
        <p:nvSpPr>
          <p:cNvPr id="2" name="Rectángulo 1"/>
          <p:cNvSpPr/>
          <p:nvPr/>
        </p:nvSpPr>
        <p:spPr>
          <a:xfrm>
            <a:off x="2869406" y="2975811"/>
            <a:ext cx="23114452" cy="1446806"/>
          </a:xfrm>
          <a:prstGeom prst="rect">
            <a:avLst/>
          </a:prstGeom>
        </p:spPr>
        <p:txBody>
          <a:bodyPr wrap="square">
            <a:spAutoFit/>
          </a:bodyPr>
          <a:lstStyle/>
          <a:p>
            <a:pPr algn="ctr"/>
            <a:r>
              <a:rPr lang="es-CL" sz="4401" b="1" dirty="0">
                <a:solidFill>
                  <a:srgbClr val="000000"/>
                </a:solidFill>
                <a:latin typeface="Arial" panose="020B0604020202020204" pitchFamily="34" charset="0"/>
              </a:rPr>
              <a:t>Desarrollo </a:t>
            </a:r>
            <a:r>
              <a:rPr lang="es-CL" sz="4401" b="1" i="1" dirty="0">
                <a:solidFill>
                  <a:srgbClr val="000000"/>
                </a:solidFill>
                <a:latin typeface="Arial" panose="020B0604020202020204" pitchFamily="34" charset="0"/>
              </a:rPr>
              <a:t>in silico </a:t>
            </a:r>
            <a:r>
              <a:rPr lang="es-CL" sz="4401" b="1" dirty="0">
                <a:solidFill>
                  <a:srgbClr val="000000"/>
                </a:solidFill>
                <a:latin typeface="Arial" panose="020B0604020202020204" pitchFamily="34" charset="0"/>
              </a:rPr>
              <a:t>de modelos QSAR-PAMPA basados en Machine Learning para la predicción de la absorción intestinal de nuevos fármacos.</a:t>
            </a:r>
            <a:endParaRPr lang="es-ES" sz="3002" i="1" dirty="0"/>
          </a:p>
        </p:txBody>
      </p:sp>
      <p:sp>
        <p:nvSpPr>
          <p:cNvPr id="11" name="CuadroTexto 10"/>
          <p:cNvSpPr txBox="1"/>
          <p:nvPr/>
        </p:nvSpPr>
        <p:spPr>
          <a:xfrm>
            <a:off x="249104" y="4288705"/>
            <a:ext cx="27227730" cy="1785553"/>
          </a:xfrm>
          <a:prstGeom prst="rect">
            <a:avLst/>
          </a:prstGeom>
          <a:noFill/>
        </p:spPr>
        <p:txBody>
          <a:bodyPr wrap="square" rtlCol="0">
            <a:spAutoFit/>
          </a:bodyPr>
          <a:lstStyle/>
          <a:p>
            <a:pPr algn="ctr"/>
            <a:r>
              <a:rPr lang="es-ES" sz="3201" u="sng" dirty="0"/>
              <a:t>Juan </a:t>
            </a:r>
            <a:r>
              <a:rPr lang="es-ES" sz="3201" u="sng"/>
              <a:t>Castillo-Garit</a:t>
            </a:r>
            <a:r>
              <a:rPr lang="es-ES" sz="3201" baseline="30000"/>
              <a:t>1,1 </a:t>
            </a:r>
            <a:r>
              <a:rPr lang="es-ES" sz="3201" u="sng"/>
              <a:t>Benjamin </a:t>
            </a:r>
            <a:r>
              <a:rPr lang="es-ES" sz="3201" u="sng" dirty="0"/>
              <a:t>Vasquez</a:t>
            </a:r>
            <a:r>
              <a:rPr lang="es-ES" sz="3201" baseline="30000" dirty="0"/>
              <a:t>1,2 </a:t>
            </a:r>
          </a:p>
          <a:p>
            <a:pPr algn="ctr"/>
            <a:r>
              <a:rPr lang="es-ES" sz="2400" baseline="30000" dirty="0"/>
              <a:t>1</a:t>
            </a:r>
            <a:r>
              <a:rPr lang="es-MX" sz="2400" dirty="0"/>
              <a:t>Instituto Universitario de Investigación y Desarrollo Tecnológico de la UTEM.</a:t>
            </a:r>
            <a:r>
              <a:rPr lang="es-ES" sz="2400" dirty="0"/>
              <a:t>, </a:t>
            </a:r>
            <a:r>
              <a:rPr lang="es-MX" sz="2400" dirty="0"/>
              <a:t>Ignacio Valdivieso 2409, San Joaquín</a:t>
            </a:r>
            <a:r>
              <a:rPr lang="es-ES" sz="2400" dirty="0"/>
              <a:t>.</a:t>
            </a:r>
          </a:p>
          <a:p>
            <a:pPr algn="ctr"/>
            <a:r>
              <a:rPr lang="es-ES" sz="2400" dirty="0"/>
              <a:t>bvasquezp@utem.cl</a:t>
            </a:r>
          </a:p>
          <a:p>
            <a:endParaRPr lang="es-ES" sz="3002" dirty="0"/>
          </a:p>
        </p:txBody>
      </p:sp>
      <p:sp>
        <p:nvSpPr>
          <p:cNvPr id="44" name="Text Box 402"/>
          <p:cNvSpPr txBox="1">
            <a:spLocks noChangeArrowheads="1"/>
          </p:cNvSpPr>
          <p:nvPr/>
        </p:nvSpPr>
        <p:spPr bwMode="auto">
          <a:xfrm>
            <a:off x="287204" y="40120517"/>
            <a:ext cx="29999915" cy="2523798"/>
          </a:xfrm>
          <a:prstGeom prst="rect">
            <a:avLst/>
          </a:prstGeom>
          <a:ln/>
        </p:spPr>
        <p:style>
          <a:lnRef idx="2">
            <a:schemeClr val="accent2"/>
          </a:lnRef>
          <a:fillRef idx="1">
            <a:schemeClr val="lt1"/>
          </a:fillRef>
          <a:effectRef idx="0">
            <a:schemeClr val="accent2"/>
          </a:effectRef>
          <a:fontRef idx="minor">
            <a:schemeClr val="dk1"/>
          </a:fontRef>
        </p:style>
        <p:txBody>
          <a:bodyPr wrap="square" lIns="137191" tIns="68595" rIns="137191" bIns="68595">
            <a:spAutoFit/>
          </a:bodyPr>
          <a:lstStyle>
            <a:lvl1pPr defTabSz="4703763" eaLnBrk="0" hangingPunct="0">
              <a:defRPr sz="3000">
                <a:solidFill>
                  <a:schemeClr val="tx1"/>
                </a:solidFill>
                <a:latin typeface="Arial" charset="0"/>
              </a:defRPr>
            </a:lvl1pPr>
            <a:lvl2pPr marL="742950" indent="-285750" defTabSz="4703763" eaLnBrk="0" hangingPunct="0">
              <a:defRPr sz="3000">
                <a:solidFill>
                  <a:schemeClr val="tx1"/>
                </a:solidFill>
                <a:latin typeface="Arial" charset="0"/>
              </a:defRPr>
            </a:lvl2pPr>
            <a:lvl3pPr marL="1143000" indent="-228600" defTabSz="4703763" eaLnBrk="0" hangingPunct="0">
              <a:defRPr sz="3000">
                <a:solidFill>
                  <a:schemeClr val="tx1"/>
                </a:solidFill>
                <a:latin typeface="Arial" charset="0"/>
              </a:defRPr>
            </a:lvl3pPr>
            <a:lvl4pPr marL="1600200" indent="-228600" defTabSz="4703763" eaLnBrk="0" hangingPunct="0">
              <a:defRPr sz="3000">
                <a:solidFill>
                  <a:schemeClr val="tx1"/>
                </a:solidFill>
                <a:latin typeface="Arial" charset="0"/>
              </a:defRPr>
            </a:lvl4pPr>
            <a:lvl5pPr marL="2057400" indent="-228600" defTabSz="4703763" eaLnBrk="0" hangingPunct="0">
              <a:defRPr sz="3000">
                <a:solidFill>
                  <a:schemeClr val="tx1"/>
                </a:solidFill>
                <a:latin typeface="Arial" charset="0"/>
              </a:defRPr>
            </a:lvl5pPr>
            <a:lvl6pPr marL="2514600" indent="-228600" defTabSz="4703763" eaLnBrk="0" fontAlgn="base" hangingPunct="0">
              <a:spcBef>
                <a:spcPct val="0"/>
              </a:spcBef>
              <a:spcAft>
                <a:spcPct val="0"/>
              </a:spcAft>
              <a:defRPr sz="3000">
                <a:solidFill>
                  <a:schemeClr val="tx1"/>
                </a:solidFill>
                <a:latin typeface="Arial" charset="0"/>
              </a:defRPr>
            </a:lvl6pPr>
            <a:lvl7pPr marL="2971800" indent="-228600" defTabSz="4703763" eaLnBrk="0" fontAlgn="base" hangingPunct="0">
              <a:spcBef>
                <a:spcPct val="0"/>
              </a:spcBef>
              <a:spcAft>
                <a:spcPct val="0"/>
              </a:spcAft>
              <a:defRPr sz="3000">
                <a:solidFill>
                  <a:schemeClr val="tx1"/>
                </a:solidFill>
                <a:latin typeface="Arial" charset="0"/>
              </a:defRPr>
            </a:lvl7pPr>
            <a:lvl8pPr marL="3429000" indent="-228600" defTabSz="4703763" eaLnBrk="0" fontAlgn="base" hangingPunct="0">
              <a:spcBef>
                <a:spcPct val="0"/>
              </a:spcBef>
              <a:spcAft>
                <a:spcPct val="0"/>
              </a:spcAft>
              <a:defRPr sz="3000">
                <a:solidFill>
                  <a:schemeClr val="tx1"/>
                </a:solidFill>
                <a:latin typeface="Arial" charset="0"/>
              </a:defRPr>
            </a:lvl8pPr>
            <a:lvl9pPr marL="3886200" indent="-228600" defTabSz="4703763" eaLnBrk="0" fontAlgn="base" hangingPunct="0">
              <a:spcBef>
                <a:spcPct val="0"/>
              </a:spcBef>
              <a:spcAft>
                <a:spcPct val="0"/>
              </a:spcAft>
              <a:defRPr sz="3000">
                <a:solidFill>
                  <a:schemeClr val="tx1"/>
                </a:solidFill>
                <a:latin typeface="Arial" charset="0"/>
              </a:defRPr>
            </a:lvl9pPr>
          </a:lstStyle>
          <a:p>
            <a:pPr>
              <a:spcBef>
                <a:spcPts val="1400"/>
              </a:spcBef>
              <a:spcAft>
                <a:spcPts val="0"/>
              </a:spcAft>
            </a:pPr>
            <a:r>
              <a:rPr lang="en-US" sz="2400" dirty="0">
                <a:latin typeface="+mj-lt"/>
                <a:ea typeface="Times New Roman" panose="02020603050405020304" pitchFamily="18" charset="0"/>
                <a:cs typeface="Helvetica" panose="020B0604020202020204" pitchFamily="34" charset="0"/>
              </a:rPr>
              <a:t>[1] </a:t>
            </a:r>
            <a:r>
              <a:rPr lang="en-US" sz="2400" b="1" dirty="0"/>
              <a:t>Jensen, J. H., et al. (2020).</a:t>
            </a:r>
            <a:r>
              <a:rPr lang="en-US" sz="2400" dirty="0"/>
              <a:t> </a:t>
            </a:r>
            <a:r>
              <a:rPr lang="en-US" sz="2400" i="1" dirty="0"/>
              <a:t>Highly Predictive and Interpretable Models for PAMPA Permeability.</a:t>
            </a:r>
            <a:r>
              <a:rPr lang="en-US" sz="2400" dirty="0"/>
              <a:t> Journal of Medicinal Chemistry, 63(6), 2770–2782.</a:t>
            </a:r>
          </a:p>
          <a:p>
            <a:pPr>
              <a:spcBef>
                <a:spcPts val="1400"/>
              </a:spcBef>
              <a:spcAft>
                <a:spcPts val="0"/>
              </a:spcAft>
            </a:pPr>
            <a:r>
              <a:rPr lang="en-US" sz="2400" dirty="0">
                <a:latin typeface="+mj-lt"/>
                <a:ea typeface="Times New Roman" panose="02020603050405020304" pitchFamily="18" charset="0"/>
                <a:cs typeface="Helvetica" panose="020B0604020202020204" pitchFamily="34" charset="0"/>
              </a:rPr>
              <a:t>[2]</a:t>
            </a:r>
            <a:r>
              <a:rPr lang="ro-RO" sz="2400" dirty="0">
                <a:latin typeface="+mj-lt"/>
                <a:ea typeface="Times New Roman" panose="02020603050405020304" pitchFamily="18" charset="0"/>
                <a:cs typeface="Helvetica" panose="020B0604020202020204" pitchFamily="34" charset="0"/>
              </a:rPr>
              <a:t> </a:t>
            </a:r>
            <a:r>
              <a:rPr lang="en-US" sz="2400" b="1" dirty="0"/>
              <a:t>Hou, T., Xu, X., &amp; Pan, W. (2021).</a:t>
            </a:r>
            <a:r>
              <a:rPr lang="en-US" sz="2400" dirty="0"/>
              <a:t> </a:t>
            </a:r>
            <a:r>
              <a:rPr lang="en-US" sz="2400" i="1" dirty="0"/>
              <a:t>Recent advances in the prediction of oral drug absorption using PAMPA.</a:t>
            </a:r>
            <a:r>
              <a:rPr lang="en-US" sz="2400" dirty="0"/>
              <a:t> Expert Opinion on Drug Metabolism &amp; Toxicology, 17(5), 537–550.</a:t>
            </a:r>
          </a:p>
          <a:p>
            <a:pPr>
              <a:spcBef>
                <a:spcPts val="1400"/>
              </a:spcBef>
              <a:spcAft>
                <a:spcPts val="0"/>
              </a:spcAft>
            </a:pPr>
            <a:r>
              <a:rPr lang="en-US" sz="2400" dirty="0">
                <a:ea typeface="Times New Roman" panose="02020603050405020304" pitchFamily="18" charset="0"/>
                <a:cs typeface="Helvetica" panose="020B0604020202020204" pitchFamily="34" charset="0"/>
              </a:rPr>
              <a:t>[3] </a:t>
            </a:r>
            <a:r>
              <a:rPr lang="en-US" sz="2400" b="1" dirty="0" err="1"/>
              <a:t>Kansy</a:t>
            </a:r>
            <a:r>
              <a:rPr lang="en-US" sz="2400" b="1" dirty="0"/>
              <a:t>, M., Senner, F., &amp; Gubernator, K. (1998).</a:t>
            </a:r>
            <a:r>
              <a:rPr lang="en-US" sz="2400" dirty="0"/>
              <a:t> </a:t>
            </a:r>
            <a:r>
              <a:rPr lang="en-US" sz="2400" i="1" dirty="0"/>
              <a:t>Physicochemical high throughput screening: Parallel artificial membrane permeation assay in the description of passive absorption processes.</a:t>
            </a:r>
            <a:r>
              <a:rPr lang="en-US" sz="2400" dirty="0"/>
              <a:t> Journal of Medicinal Chemistry, 41(7), 1007–1010. </a:t>
            </a:r>
          </a:p>
          <a:p>
            <a:pPr>
              <a:spcBef>
                <a:spcPts val="1400"/>
              </a:spcBef>
              <a:spcAft>
                <a:spcPts val="0"/>
              </a:spcAft>
            </a:pPr>
            <a:r>
              <a:rPr lang="en-US" sz="2400" dirty="0">
                <a:ea typeface="Times New Roman" panose="02020603050405020304" pitchFamily="18" charset="0"/>
                <a:cs typeface="Helvetica" panose="020B0604020202020204" pitchFamily="34" charset="0"/>
              </a:rPr>
              <a:t>[4]</a:t>
            </a:r>
            <a:r>
              <a:rPr lang="en-US" sz="2400" b="1" dirty="0"/>
              <a:t> </a:t>
            </a:r>
            <a:r>
              <a:rPr lang="en-US" sz="2400" b="1" dirty="0" err="1"/>
              <a:t>Tropsha</a:t>
            </a:r>
            <a:r>
              <a:rPr lang="en-US" sz="2400" b="1" dirty="0"/>
              <a:t>, A. (2010).</a:t>
            </a:r>
            <a:r>
              <a:rPr lang="en-US" sz="2400" dirty="0"/>
              <a:t> </a:t>
            </a:r>
            <a:r>
              <a:rPr lang="en-US" sz="2400" i="1" dirty="0"/>
              <a:t>Best practices for QSAR model development, validation, and exploitation.</a:t>
            </a:r>
            <a:r>
              <a:rPr lang="en-US" sz="2400" dirty="0"/>
              <a:t> Molecular Informatics, 29(6–7), 476–488. </a:t>
            </a:r>
            <a:endParaRPr lang="ro-RO" sz="2400" dirty="0">
              <a:latin typeface="+mj-lt"/>
              <a:ea typeface="Times New Roman" panose="02020603050405020304" pitchFamily="18" charset="0"/>
            </a:endParaRPr>
          </a:p>
        </p:txBody>
      </p:sp>
      <p:sp>
        <p:nvSpPr>
          <p:cNvPr id="4" name="Rectangle 7">
            <a:extLst>
              <a:ext uri="{FF2B5EF4-FFF2-40B4-BE49-F238E27FC236}">
                <a16:creationId xmlns:a16="http://schemas.microsoft.com/office/drawing/2014/main" id="{3BF3F3C8-C366-4995-ACCA-8CE0961DA9A3}"/>
              </a:ext>
            </a:extLst>
          </p:cNvPr>
          <p:cNvSpPr>
            <a:spLocks noChangeArrowheads="1"/>
          </p:cNvSpPr>
          <p:nvPr/>
        </p:nvSpPr>
        <p:spPr bwMode="auto">
          <a:xfrm>
            <a:off x="1468477" y="6074156"/>
            <a:ext cx="27756681" cy="1336973"/>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137191" tIns="68595" rIns="137191" bIns="68595" anchor="ctr"/>
          <a:lstStyle/>
          <a:p>
            <a:pPr algn="ctr" defTabSz="4704704"/>
            <a:r>
              <a:rPr lang="es-ES" sz="5401" b="1" spc="900" dirty="0">
                <a:solidFill>
                  <a:schemeClr val="bg1"/>
                </a:solidFill>
                <a:latin typeface="Calibri" panose="020F0502020204030204" pitchFamily="34" charset="0"/>
                <a:ea typeface="Verdana" panose="020B0604030504040204" pitchFamily="34" charset="0"/>
                <a:cs typeface="Calibri" panose="020F0502020204030204" pitchFamily="34" charset="0"/>
              </a:rPr>
              <a:t>Introducción</a:t>
            </a:r>
          </a:p>
        </p:txBody>
      </p:sp>
      <p:sp>
        <p:nvSpPr>
          <p:cNvPr id="6" name="Rectangle 7">
            <a:extLst>
              <a:ext uri="{FF2B5EF4-FFF2-40B4-BE49-F238E27FC236}">
                <a16:creationId xmlns:a16="http://schemas.microsoft.com/office/drawing/2014/main" id="{5E7BB504-BA04-879D-8233-C260D8A73A7B}"/>
              </a:ext>
            </a:extLst>
          </p:cNvPr>
          <p:cNvSpPr>
            <a:spLocks noChangeArrowheads="1"/>
          </p:cNvSpPr>
          <p:nvPr/>
        </p:nvSpPr>
        <p:spPr bwMode="auto">
          <a:xfrm>
            <a:off x="747839" y="39572387"/>
            <a:ext cx="28686101" cy="49236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137191" tIns="68595" rIns="137191" bIns="68595" anchor="ctr"/>
          <a:lstStyle/>
          <a:p>
            <a:pPr algn="ctr" defTabSz="4704704"/>
            <a:r>
              <a:rPr lang="es-ES" sz="5401" b="1" spc="900" dirty="0">
                <a:solidFill>
                  <a:schemeClr val="bg1"/>
                </a:solidFill>
                <a:latin typeface="Calibri" panose="020F0502020204030204" pitchFamily="34" charset="0"/>
                <a:ea typeface="Verdana" panose="020B0604030504040204" pitchFamily="34" charset="0"/>
                <a:cs typeface="Calibri" panose="020F0502020204030204" pitchFamily="34" charset="0"/>
              </a:rPr>
              <a:t>Referencias</a:t>
            </a:r>
          </a:p>
        </p:txBody>
      </p:sp>
      <p:sp>
        <p:nvSpPr>
          <p:cNvPr id="7" name="Rectangle 7">
            <a:extLst>
              <a:ext uri="{FF2B5EF4-FFF2-40B4-BE49-F238E27FC236}">
                <a16:creationId xmlns:a16="http://schemas.microsoft.com/office/drawing/2014/main" id="{27D44F93-185C-DBBF-C4CF-4C38E6659E28}"/>
              </a:ext>
            </a:extLst>
          </p:cNvPr>
          <p:cNvSpPr>
            <a:spLocks noChangeArrowheads="1"/>
          </p:cNvSpPr>
          <p:nvPr/>
        </p:nvSpPr>
        <p:spPr bwMode="auto">
          <a:xfrm>
            <a:off x="19170591" y="31518123"/>
            <a:ext cx="5822414" cy="99855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137191" tIns="68595" rIns="137191" bIns="68595" anchor="ctr"/>
          <a:lstStyle/>
          <a:p>
            <a:pPr algn="ctr" defTabSz="4704704"/>
            <a:r>
              <a:rPr lang="es-ES" sz="5401" b="1" spc="900" dirty="0">
                <a:solidFill>
                  <a:schemeClr val="bg1"/>
                </a:solidFill>
                <a:latin typeface="Calibri" panose="020F0502020204030204" pitchFamily="34" charset="0"/>
                <a:ea typeface="Verdana" panose="020B0604030504040204" pitchFamily="34" charset="0"/>
                <a:cs typeface="Calibri" panose="020F0502020204030204" pitchFamily="34" charset="0"/>
              </a:rPr>
              <a:t>Conclusiones</a:t>
            </a:r>
          </a:p>
        </p:txBody>
      </p:sp>
      <p:sp>
        <p:nvSpPr>
          <p:cNvPr id="9" name="Rectangle 7">
            <a:extLst>
              <a:ext uri="{FF2B5EF4-FFF2-40B4-BE49-F238E27FC236}">
                <a16:creationId xmlns:a16="http://schemas.microsoft.com/office/drawing/2014/main" id="{2BCD6E98-3144-4ADF-C84D-C5C8A0AEEE36}"/>
              </a:ext>
            </a:extLst>
          </p:cNvPr>
          <p:cNvSpPr>
            <a:spLocks noChangeArrowheads="1"/>
          </p:cNvSpPr>
          <p:nvPr/>
        </p:nvSpPr>
        <p:spPr bwMode="auto">
          <a:xfrm>
            <a:off x="941417" y="11833827"/>
            <a:ext cx="20454407" cy="82836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137191" tIns="68595" rIns="137191" bIns="68595" anchor="ctr"/>
          <a:lstStyle/>
          <a:p>
            <a:pPr algn="ctr" defTabSz="4704704"/>
            <a:r>
              <a:rPr lang="es-ES" sz="5401" b="1" spc="900" dirty="0">
                <a:solidFill>
                  <a:schemeClr val="bg1"/>
                </a:solidFill>
                <a:latin typeface="Calibri" panose="020F0502020204030204" pitchFamily="34" charset="0"/>
                <a:ea typeface="Verdana" panose="020B0604030504040204" pitchFamily="34" charset="0"/>
                <a:cs typeface="Calibri" panose="020F0502020204030204" pitchFamily="34" charset="0"/>
              </a:rPr>
              <a:t>Métodos de evaluación de permeabilidad intestinal</a:t>
            </a:r>
          </a:p>
        </p:txBody>
      </p:sp>
      <p:pic>
        <p:nvPicPr>
          <p:cNvPr id="1028" name="Picture 4" descr="Sustenta – Premio Empresa Sustentable">
            <a:extLst>
              <a:ext uri="{FF2B5EF4-FFF2-40B4-BE49-F238E27FC236}">
                <a16:creationId xmlns:a16="http://schemas.microsoft.com/office/drawing/2014/main" id="{05567A84-30E1-779A-D2F0-8639AD81A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9329" y="1024177"/>
            <a:ext cx="5605155" cy="1832886"/>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ángulo 1036">
            <a:extLst>
              <a:ext uri="{FF2B5EF4-FFF2-40B4-BE49-F238E27FC236}">
                <a16:creationId xmlns:a16="http://schemas.microsoft.com/office/drawing/2014/main" id="{A3BCD471-7E45-602C-7337-57BA69B4E477}"/>
              </a:ext>
            </a:extLst>
          </p:cNvPr>
          <p:cNvSpPr/>
          <p:nvPr/>
        </p:nvSpPr>
        <p:spPr bwMode="auto">
          <a:xfrm>
            <a:off x="15262906" y="32651272"/>
            <a:ext cx="14847636" cy="660096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60" tIns="45730" rIns="91460" bIns="45730" numCol="1" rtlCol="0" anchor="t" anchorCtr="0" compatLnSpc="1">
            <a:prstTxWarp prst="textNoShape">
              <a:avLst/>
            </a:prstTxWarp>
          </a:bodyPr>
          <a:lstStyle/>
          <a:p>
            <a:pPr defTabSz="4704704"/>
            <a:r>
              <a:rPr lang="es-MX" sz="3600" dirty="0"/>
              <a:t>La combinación de ensayos in vitro rápidos (como PAMPA) con modelado QSAR/ML permite anticipar la permeabilidad intestinal pasiva de candidatos orales en etapas tempranas. Los modelos desarrollados facilitan identificar compuestos con alta probabilidad de absorción suficiente, guiando la optimización de moléculas. Estas herramientas </a:t>
            </a:r>
            <a:r>
              <a:rPr lang="es-MX" sz="3600" i="1" dirty="0"/>
              <a:t>in </a:t>
            </a:r>
            <a:r>
              <a:rPr lang="es-MX" sz="3600" i="1" dirty="0" err="1"/>
              <a:t>silico</a:t>
            </a:r>
            <a:r>
              <a:rPr lang="es-MX" sz="3600" i="1" dirty="0"/>
              <a:t> </a:t>
            </a:r>
            <a:r>
              <a:rPr lang="es-MX" sz="3600" dirty="0"/>
              <a:t>complementan los métodos tradicionales (Caco-2, HIA) y ayudan a reducir costes y fallo en fases posteriores.</a:t>
            </a:r>
          </a:p>
          <a:p>
            <a:pPr defTabSz="4704704"/>
            <a:r>
              <a:rPr lang="es-MX" sz="3600" dirty="0">
                <a:solidFill>
                  <a:schemeClr val="tx1"/>
                </a:solidFill>
                <a:latin typeface="Arial" charset="0"/>
              </a:rPr>
              <a:t>Actualmente, el proyecto se encuentra en fase de generación y validación de los modelos QSAR basados en PAMPA utilizando la BD curada con herramientas como </a:t>
            </a:r>
            <a:r>
              <a:rPr lang="es-MX" sz="3600" dirty="0" err="1">
                <a:solidFill>
                  <a:schemeClr val="tx1"/>
                </a:solidFill>
                <a:latin typeface="Arial" charset="0"/>
              </a:rPr>
              <a:t>AlvaDesc</a:t>
            </a:r>
            <a:r>
              <a:rPr lang="es-MX" sz="3600" dirty="0">
                <a:solidFill>
                  <a:schemeClr val="tx1"/>
                </a:solidFill>
                <a:latin typeface="Arial" charset="0"/>
              </a:rPr>
              <a:t> y WEKA para asegurar la robustez predictiva, como paso clave para predecir la absorción intestinal de nuevos fármacos.</a:t>
            </a:r>
            <a:endParaRPr lang="es-ES_tradnl" sz="3601" dirty="0">
              <a:solidFill>
                <a:schemeClr val="tx1"/>
              </a:solidFill>
              <a:latin typeface="Arial" charset="0"/>
            </a:endParaRPr>
          </a:p>
        </p:txBody>
      </p:sp>
      <p:sp>
        <p:nvSpPr>
          <p:cNvPr id="1024" name="CuadroTexto 1023">
            <a:extLst>
              <a:ext uri="{FF2B5EF4-FFF2-40B4-BE49-F238E27FC236}">
                <a16:creationId xmlns:a16="http://schemas.microsoft.com/office/drawing/2014/main" id="{83373B55-B8EF-D50B-3384-C74765A35C19}"/>
              </a:ext>
            </a:extLst>
          </p:cNvPr>
          <p:cNvSpPr txBox="1"/>
          <p:nvPr/>
        </p:nvSpPr>
        <p:spPr>
          <a:xfrm>
            <a:off x="941416" y="12740514"/>
            <a:ext cx="20596989" cy="584775"/>
          </a:xfrm>
          <a:prstGeom prst="rect">
            <a:avLst/>
          </a:prstGeom>
          <a:noFill/>
        </p:spPr>
        <p:txBody>
          <a:bodyPr wrap="square">
            <a:spAutoFit/>
          </a:bodyPr>
          <a:lstStyle/>
          <a:p>
            <a:pPr algn="just"/>
            <a:r>
              <a:rPr lang="es-ES" sz="3200" b="1" dirty="0">
                <a:latin typeface="+mn-lt"/>
              </a:rPr>
              <a:t>Tabla 1: Comparación entre métodos de evaluación de permeabilidad intestinal: Caco-2; PAMPA; HIA.</a:t>
            </a:r>
            <a:endParaRPr lang="es-ES" sz="3200" dirty="0">
              <a:latin typeface="+mn-lt"/>
            </a:endParaRPr>
          </a:p>
        </p:txBody>
      </p:sp>
      <p:sp>
        <p:nvSpPr>
          <p:cNvPr id="19" name="CuadroTexto 18">
            <a:extLst>
              <a:ext uri="{FF2B5EF4-FFF2-40B4-BE49-F238E27FC236}">
                <a16:creationId xmlns:a16="http://schemas.microsoft.com/office/drawing/2014/main" id="{A0E451BB-5242-B27A-E87E-B4D083F889DC}"/>
              </a:ext>
            </a:extLst>
          </p:cNvPr>
          <p:cNvSpPr txBox="1"/>
          <p:nvPr/>
        </p:nvSpPr>
        <p:spPr>
          <a:xfrm>
            <a:off x="1216713" y="27913592"/>
            <a:ext cx="14046193" cy="954107"/>
          </a:xfrm>
          <a:prstGeom prst="rect">
            <a:avLst/>
          </a:prstGeom>
          <a:noFill/>
        </p:spPr>
        <p:txBody>
          <a:bodyPr wrap="square">
            <a:spAutoFit/>
          </a:bodyPr>
          <a:lstStyle/>
          <a:p>
            <a:pPr algn="just"/>
            <a:r>
              <a:rPr lang="es-ES" sz="2800" b="1" dirty="0" err="1">
                <a:latin typeface="+mn-lt"/>
              </a:rPr>
              <a:t>Fig</a:t>
            </a:r>
            <a:r>
              <a:rPr lang="es-ES" sz="2800" b="1" dirty="0">
                <a:latin typeface="+mn-lt"/>
              </a:rPr>
              <a:t> 1. </a:t>
            </a:r>
            <a:r>
              <a:rPr lang="es-ES" sz="2800" dirty="0">
                <a:latin typeface="+mn-lt"/>
              </a:rPr>
              <a:t>Componentes de biodisponibilidad oral: fracción absorbida, extracción intestinal y </a:t>
            </a:r>
            <a:r>
              <a:rPr lang="es-ES" sz="2800" dirty="0" err="1">
                <a:latin typeface="+mn-lt"/>
              </a:rPr>
              <a:t>hepatica</a:t>
            </a:r>
            <a:endParaRPr lang="es-ES" sz="2800" dirty="0">
              <a:latin typeface="+mn-lt"/>
            </a:endParaRPr>
          </a:p>
        </p:txBody>
      </p:sp>
      <p:sp>
        <p:nvSpPr>
          <p:cNvPr id="22" name="CuadroTexto 21">
            <a:extLst>
              <a:ext uri="{FF2B5EF4-FFF2-40B4-BE49-F238E27FC236}">
                <a16:creationId xmlns:a16="http://schemas.microsoft.com/office/drawing/2014/main" id="{901FA3A9-A1D3-834E-5FD4-F9F4BEA67A4D}"/>
              </a:ext>
            </a:extLst>
          </p:cNvPr>
          <p:cNvSpPr txBox="1"/>
          <p:nvPr/>
        </p:nvSpPr>
        <p:spPr>
          <a:xfrm>
            <a:off x="7327596" y="38646061"/>
            <a:ext cx="8027695" cy="954107"/>
          </a:xfrm>
          <a:prstGeom prst="rect">
            <a:avLst/>
          </a:prstGeom>
          <a:noFill/>
        </p:spPr>
        <p:txBody>
          <a:bodyPr wrap="square">
            <a:spAutoFit/>
          </a:bodyPr>
          <a:lstStyle/>
          <a:p>
            <a:pPr algn="just"/>
            <a:r>
              <a:rPr lang="es-ES" sz="2800" b="1" dirty="0">
                <a:latin typeface="+mn-lt"/>
              </a:rPr>
              <a:t>Fig. 2 </a:t>
            </a:r>
            <a:r>
              <a:rPr lang="es-MX" sz="2800" dirty="0">
                <a:latin typeface="+mn-lt"/>
              </a:rPr>
              <a:t>Clasificación, validación y construcción del modelo QSAR basado en datos PAMPA</a:t>
            </a:r>
            <a:endParaRPr lang="es-ES" sz="2800" dirty="0">
              <a:latin typeface="+mn-lt"/>
            </a:endParaRPr>
          </a:p>
        </p:txBody>
      </p:sp>
      <p:graphicFrame>
        <p:nvGraphicFramePr>
          <p:cNvPr id="12" name="Tabla 11">
            <a:extLst>
              <a:ext uri="{FF2B5EF4-FFF2-40B4-BE49-F238E27FC236}">
                <a16:creationId xmlns:a16="http://schemas.microsoft.com/office/drawing/2014/main" id="{D6D9F9B5-E51F-35EC-AF2F-648FBE2FE8C3}"/>
              </a:ext>
            </a:extLst>
          </p:cNvPr>
          <p:cNvGraphicFramePr>
            <a:graphicFrameLocks noGrp="1"/>
          </p:cNvGraphicFramePr>
          <p:nvPr>
            <p:extLst>
              <p:ext uri="{D42A27DB-BD31-4B8C-83A1-F6EECF244321}">
                <p14:modId xmlns:p14="http://schemas.microsoft.com/office/powerpoint/2010/main" val="1618838889"/>
              </p:ext>
            </p:extLst>
          </p:nvPr>
        </p:nvGraphicFramePr>
        <p:xfrm>
          <a:off x="136822" y="13197224"/>
          <a:ext cx="29999914" cy="7182186"/>
        </p:xfrm>
        <a:graphic>
          <a:graphicData uri="http://schemas.openxmlformats.org/drawingml/2006/table">
            <a:tbl>
              <a:tblPr firstRow="1" bandRow="1">
                <a:tableStyleId>{21E4AEA4-8DFA-4A89-87EB-49C32662AFE0}</a:tableStyleId>
              </a:tblPr>
              <a:tblGrid>
                <a:gridCol w="3182098">
                  <a:extLst>
                    <a:ext uri="{9D8B030D-6E8A-4147-A177-3AD203B41FA5}">
                      <a16:colId xmlns:a16="http://schemas.microsoft.com/office/drawing/2014/main" val="2434974200"/>
                    </a:ext>
                  </a:extLst>
                </a:gridCol>
                <a:gridCol w="4525214">
                  <a:extLst>
                    <a:ext uri="{9D8B030D-6E8A-4147-A177-3AD203B41FA5}">
                      <a16:colId xmlns:a16="http://schemas.microsoft.com/office/drawing/2014/main" val="1114215614"/>
                    </a:ext>
                  </a:extLst>
                </a:gridCol>
                <a:gridCol w="1197472">
                  <a:extLst>
                    <a:ext uri="{9D8B030D-6E8A-4147-A177-3AD203B41FA5}">
                      <a16:colId xmlns:a16="http://schemas.microsoft.com/office/drawing/2014/main" val="2072500252"/>
                    </a:ext>
                  </a:extLst>
                </a:gridCol>
                <a:gridCol w="3200400">
                  <a:extLst>
                    <a:ext uri="{9D8B030D-6E8A-4147-A177-3AD203B41FA5}">
                      <a16:colId xmlns:a16="http://schemas.microsoft.com/office/drawing/2014/main" val="2038630076"/>
                    </a:ext>
                  </a:extLst>
                </a:gridCol>
                <a:gridCol w="4495800">
                  <a:extLst>
                    <a:ext uri="{9D8B030D-6E8A-4147-A177-3AD203B41FA5}">
                      <a16:colId xmlns:a16="http://schemas.microsoft.com/office/drawing/2014/main" val="1599021277"/>
                    </a:ext>
                  </a:extLst>
                </a:gridCol>
                <a:gridCol w="6629400">
                  <a:extLst>
                    <a:ext uri="{9D8B030D-6E8A-4147-A177-3AD203B41FA5}">
                      <a16:colId xmlns:a16="http://schemas.microsoft.com/office/drawing/2014/main" val="1668887335"/>
                    </a:ext>
                  </a:extLst>
                </a:gridCol>
                <a:gridCol w="6769530">
                  <a:extLst>
                    <a:ext uri="{9D8B030D-6E8A-4147-A177-3AD203B41FA5}">
                      <a16:colId xmlns:a16="http://schemas.microsoft.com/office/drawing/2014/main" val="1920269629"/>
                    </a:ext>
                  </a:extLst>
                </a:gridCol>
              </a:tblGrid>
              <a:tr h="734799">
                <a:tc>
                  <a:txBody>
                    <a:bodyPr/>
                    <a:lstStyle/>
                    <a:p>
                      <a:pPr algn="ctr"/>
                      <a:r>
                        <a:rPr lang="es-CL" sz="2800" dirty="0"/>
                        <a:t>Método</a:t>
                      </a:r>
                    </a:p>
                  </a:txBody>
                  <a:tcPr/>
                </a:tc>
                <a:tc>
                  <a:txBody>
                    <a:bodyPr/>
                    <a:lstStyle/>
                    <a:p>
                      <a:pPr algn="ctr"/>
                      <a:r>
                        <a:rPr lang="es-CL" sz="2800" dirty="0"/>
                        <a:t>Transporte evaluado</a:t>
                      </a:r>
                    </a:p>
                  </a:txBody>
                  <a:tcPr/>
                </a:tc>
                <a:tc>
                  <a:txBody>
                    <a:bodyPr/>
                    <a:lstStyle/>
                    <a:p>
                      <a:pPr algn="ctr"/>
                      <a:r>
                        <a:rPr lang="es-CL" sz="2800" dirty="0"/>
                        <a:t>Costo</a:t>
                      </a:r>
                    </a:p>
                  </a:txBody>
                  <a:tcPr/>
                </a:tc>
                <a:tc>
                  <a:txBody>
                    <a:bodyPr/>
                    <a:lstStyle/>
                    <a:p>
                      <a:pPr algn="ctr"/>
                      <a:r>
                        <a:rPr lang="es-CL" sz="2800" dirty="0"/>
                        <a:t>Tiempo de ensayo</a:t>
                      </a:r>
                    </a:p>
                  </a:txBody>
                  <a:tcPr/>
                </a:tc>
                <a:tc>
                  <a:txBody>
                    <a:bodyPr/>
                    <a:lstStyle/>
                    <a:p>
                      <a:pPr algn="ctr"/>
                      <a:r>
                        <a:rPr lang="es-CL" sz="2800" dirty="0"/>
                        <a:t>Reproducibilidad </a:t>
                      </a:r>
                    </a:p>
                  </a:txBody>
                  <a:tcPr/>
                </a:tc>
                <a:tc>
                  <a:txBody>
                    <a:bodyPr/>
                    <a:lstStyle/>
                    <a:p>
                      <a:pPr algn="ctr"/>
                      <a:r>
                        <a:rPr lang="es-CL" sz="2800" dirty="0"/>
                        <a:t>Ventajas</a:t>
                      </a:r>
                    </a:p>
                  </a:txBody>
                  <a:tcPr/>
                </a:tc>
                <a:tc>
                  <a:txBody>
                    <a:bodyPr/>
                    <a:lstStyle/>
                    <a:p>
                      <a:pPr algn="ctr"/>
                      <a:r>
                        <a:rPr lang="es-CL" sz="2800" dirty="0"/>
                        <a:t>Limitaciones</a:t>
                      </a:r>
                    </a:p>
                  </a:txBody>
                  <a:tcPr/>
                </a:tc>
                <a:extLst>
                  <a:ext uri="{0D108BD9-81ED-4DB2-BD59-A6C34878D82A}">
                    <a16:rowId xmlns:a16="http://schemas.microsoft.com/office/drawing/2014/main" val="2921983308"/>
                  </a:ext>
                </a:extLst>
              </a:tr>
              <a:tr h="2079102">
                <a:tc>
                  <a:txBody>
                    <a:bodyPr/>
                    <a:lstStyle/>
                    <a:p>
                      <a:pPr algn="ctr"/>
                      <a:r>
                        <a:rPr lang="es-CL" sz="2800" dirty="0"/>
                        <a:t>Caco-2(Monocapa celular)</a:t>
                      </a:r>
                    </a:p>
                  </a:txBody>
                  <a:tcPr/>
                </a:tc>
                <a:tc>
                  <a:txBody>
                    <a:bodyPr/>
                    <a:lstStyle/>
                    <a:p>
                      <a:pPr algn="ctr"/>
                      <a:r>
                        <a:rPr lang="es-CL" sz="2800" b="1" dirty="0" err="1"/>
                        <a:t>Pasivo+Activo+Eflujo</a:t>
                      </a:r>
                      <a:endParaRPr lang="es-CL" sz="2800" b="1" dirty="0"/>
                    </a:p>
                  </a:txBody>
                  <a:tcPr/>
                </a:tc>
                <a:tc>
                  <a:txBody>
                    <a:bodyPr/>
                    <a:lstStyle/>
                    <a:p>
                      <a:pPr algn="ctr"/>
                      <a:r>
                        <a:rPr lang="es-CL" sz="2800" dirty="0"/>
                        <a:t>Alto</a:t>
                      </a:r>
                    </a:p>
                  </a:txBody>
                  <a:tcPr/>
                </a:tc>
                <a:tc>
                  <a:txBody>
                    <a:bodyPr/>
                    <a:lstStyle/>
                    <a:p>
                      <a:pPr algn="ctr"/>
                      <a:r>
                        <a:rPr lang="es-CL" sz="2800" dirty="0"/>
                        <a:t>Largo: ~21 días para formar la monocapa celular diferenciada</a:t>
                      </a:r>
                    </a:p>
                  </a:txBody>
                  <a:tcPr/>
                </a:tc>
                <a:tc>
                  <a:txBody>
                    <a:bodyPr/>
                    <a:lstStyle/>
                    <a:p>
                      <a:r>
                        <a:rPr lang="es-CL" sz="2800" dirty="0"/>
                        <a:t>Moderada: dependiente de protocolos y variabilidad </a:t>
                      </a:r>
                      <a:r>
                        <a:rPr lang="es-CL" sz="2800" dirty="0" err="1"/>
                        <a:t>Inter-laboratorio</a:t>
                      </a:r>
                      <a:r>
                        <a:rPr lang="es-CL" sz="2800" dirty="0"/>
                        <a:t>.</a:t>
                      </a:r>
                    </a:p>
                  </a:txBody>
                  <a:tcPr/>
                </a:tc>
                <a:tc>
                  <a:txBody>
                    <a:bodyPr/>
                    <a:lstStyle/>
                    <a:p>
                      <a:pPr algn="ctr"/>
                      <a:r>
                        <a:rPr lang="es-CL" sz="2800" dirty="0"/>
                        <a:t>Modela bien la barrera intestinal real con uniones estrechas y transportadores; correlaciona bien con absorción </a:t>
                      </a:r>
                      <a:r>
                        <a:rPr lang="es-CL" sz="2800" i="1" dirty="0"/>
                        <a:t>in vivo.</a:t>
                      </a:r>
                    </a:p>
                  </a:txBody>
                  <a:tcPr/>
                </a:tc>
                <a:tc>
                  <a:txBody>
                    <a:bodyPr/>
                    <a:lstStyle/>
                    <a:p>
                      <a:pPr algn="ctr"/>
                      <a:r>
                        <a:rPr lang="es-CL" sz="2800" dirty="0"/>
                        <a:t>Alto costo y tiempo; variabilidad entre cultivos; baja detección temprana de toxicidad celular.</a:t>
                      </a:r>
                    </a:p>
                  </a:txBody>
                  <a:tcPr/>
                </a:tc>
                <a:extLst>
                  <a:ext uri="{0D108BD9-81ED-4DB2-BD59-A6C34878D82A}">
                    <a16:rowId xmlns:a16="http://schemas.microsoft.com/office/drawing/2014/main" val="2373798463"/>
                  </a:ext>
                </a:extLst>
              </a:tr>
              <a:tr h="2079102">
                <a:tc>
                  <a:txBody>
                    <a:bodyPr/>
                    <a:lstStyle/>
                    <a:p>
                      <a:pPr algn="ctr"/>
                      <a:r>
                        <a:rPr lang="es-CL" sz="2800" dirty="0"/>
                        <a:t>PAMPA(Membrana artificial)</a:t>
                      </a:r>
                    </a:p>
                  </a:txBody>
                  <a:tcPr/>
                </a:tc>
                <a:tc>
                  <a:txBody>
                    <a:bodyPr/>
                    <a:lstStyle/>
                    <a:p>
                      <a:pPr algn="ctr"/>
                      <a:r>
                        <a:rPr lang="es-CL" sz="2800" b="1" dirty="0"/>
                        <a:t>Pasivo</a:t>
                      </a:r>
                      <a:r>
                        <a:rPr lang="es-CL" sz="2800" dirty="0"/>
                        <a:t>: </a:t>
                      </a:r>
                      <a:r>
                        <a:rPr lang="es-CL" sz="2800" dirty="0" err="1"/>
                        <a:t>Difusion</a:t>
                      </a:r>
                      <a:r>
                        <a:rPr lang="es-CL" sz="2800" dirty="0"/>
                        <a:t> pasiva; sin transportadores ni metabolismo</a:t>
                      </a:r>
                    </a:p>
                  </a:txBody>
                  <a:tcPr/>
                </a:tc>
                <a:tc>
                  <a:txBody>
                    <a:bodyPr/>
                    <a:lstStyle/>
                    <a:p>
                      <a:pPr algn="ctr"/>
                      <a:r>
                        <a:rPr lang="es-CL" sz="2800" dirty="0"/>
                        <a:t>Bajo</a:t>
                      </a:r>
                    </a:p>
                  </a:txBody>
                  <a:tcPr/>
                </a:tc>
                <a:tc>
                  <a:txBody>
                    <a:bodyPr/>
                    <a:lstStyle/>
                    <a:p>
                      <a:pPr algn="ctr"/>
                      <a:r>
                        <a:rPr lang="es-CL" sz="2800" dirty="0"/>
                        <a:t>Corto: Pocas horas y alto troughput</a:t>
                      </a:r>
                    </a:p>
                  </a:txBody>
                  <a:tcPr/>
                </a:tc>
                <a:tc>
                  <a:txBody>
                    <a:bodyPr/>
                    <a:lstStyle/>
                    <a:p>
                      <a:r>
                        <a:rPr lang="es-CL" sz="2800" dirty="0"/>
                        <a:t>Alta: Membrana definida y estandarizable.</a:t>
                      </a:r>
                    </a:p>
                  </a:txBody>
                  <a:tcPr/>
                </a:tc>
                <a:tc>
                  <a:txBody>
                    <a:bodyPr/>
                    <a:lstStyle/>
                    <a:p>
                      <a:pPr algn="ctr"/>
                      <a:r>
                        <a:rPr lang="es-CL" sz="2800" dirty="0"/>
                        <a:t>Muy económico y rápido; excelente para screening inicial; alta correlación con difusión pasiva </a:t>
                      </a:r>
                      <a:r>
                        <a:rPr lang="es-CL" sz="2800" i="1" dirty="0"/>
                        <a:t>in vivo.</a:t>
                      </a:r>
                    </a:p>
                  </a:txBody>
                  <a:tcPr/>
                </a:tc>
                <a:tc>
                  <a:txBody>
                    <a:bodyPr/>
                    <a:lstStyle/>
                    <a:p>
                      <a:pPr algn="ctr"/>
                      <a:r>
                        <a:rPr lang="es-CL" sz="2800" dirty="0"/>
                        <a:t>No mide transporte activo ni eflujo; ignora metabolismo; puede subestimar compuestos dependientes de transportadores</a:t>
                      </a:r>
                    </a:p>
                  </a:txBody>
                  <a:tcPr/>
                </a:tc>
                <a:extLst>
                  <a:ext uri="{0D108BD9-81ED-4DB2-BD59-A6C34878D82A}">
                    <a16:rowId xmlns:a16="http://schemas.microsoft.com/office/drawing/2014/main" val="3143080663"/>
                  </a:ext>
                </a:extLst>
              </a:tr>
              <a:tr h="2079102">
                <a:tc>
                  <a:txBody>
                    <a:bodyPr/>
                    <a:lstStyle/>
                    <a:p>
                      <a:pPr algn="ctr"/>
                      <a:r>
                        <a:rPr lang="es-CL" sz="2800" dirty="0"/>
                        <a:t>HIA(Absorción humana)</a:t>
                      </a:r>
                    </a:p>
                  </a:txBody>
                  <a:tcPr/>
                </a:tc>
                <a:tc>
                  <a:txBody>
                    <a:bodyPr/>
                    <a:lstStyle/>
                    <a:p>
                      <a:pPr algn="ctr"/>
                      <a:r>
                        <a:rPr lang="es-CL" sz="2800" b="1" dirty="0" err="1"/>
                        <a:t>Pasivo+Activo</a:t>
                      </a:r>
                      <a:r>
                        <a:rPr lang="es-CL" sz="2800" dirty="0"/>
                        <a:t>: Considera todos los mecanismos de absorción en humanos</a:t>
                      </a:r>
                    </a:p>
                  </a:txBody>
                  <a:tcPr/>
                </a:tc>
                <a:tc>
                  <a:txBody>
                    <a:bodyPr/>
                    <a:lstStyle/>
                    <a:p>
                      <a:pPr algn="ctr"/>
                      <a:r>
                        <a:rPr lang="es-CL" sz="2800" dirty="0"/>
                        <a:t>Muy alto</a:t>
                      </a:r>
                    </a:p>
                  </a:txBody>
                  <a:tcPr/>
                </a:tc>
                <a:tc>
                  <a:txBody>
                    <a:bodyPr/>
                    <a:lstStyle/>
                    <a:p>
                      <a:pPr algn="ctr"/>
                      <a:r>
                        <a:rPr lang="es-CL" sz="2800" dirty="0"/>
                        <a:t>Muy largo: Ensayos clínicos o </a:t>
                      </a:r>
                      <a:r>
                        <a:rPr lang="es-CL" sz="2800" i="1" dirty="0"/>
                        <a:t>in vivo</a:t>
                      </a:r>
                    </a:p>
                  </a:txBody>
                  <a:tcPr/>
                </a:tc>
                <a:tc>
                  <a:txBody>
                    <a:bodyPr/>
                    <a:lstStyle/>
                    <a:p>
                      <a:r>
                        <a:rPr lang="es-CL" sz="2800" dirty="0"/>
                        <a:t>Baja: Alta variabilidad biológica entre sujetos y laboratorios.</a:t>
                      </a:r>
                    </a:p>
                  </a:txBody>
                  <a:tcPr/>
                </a:tc>
                <a:tc>
                  <a:txBody>
                    <a:bodyPr/>
                    <a:lstStyle/>
                    <a:p>
                      <a:pPr algn="ctr"/>
                      <a:r>
                        <a:rPr lang="es-CL" sz="2800" dirty="0"/>
                        <a:t>Medida real de fracción absorbida en humanos; incluye factores fisiológicos integrales.</a:t>
                      </a:r>
                    </a:p>
                  </a:txBody>
                  <a:tcPr/>
                </a:tc>
                <a:tc>
                  <a:txBody>
                    <a:bodyPr/>
                    <a:lstStyle/>
                    <a:p>
                      <a:pPr algn="ctr"/>
                      <a:r>
                        <a:rPr lang="es-CL" sz="2800" dirty="0"/>
                        <a:t>Altísimo costo y tiempo; baja disponibilidad de datos; procedimientos éticamente complejos; no es adecuado para cribado masivo.</a:t>
                      </a:r>
                    </a:p>
                  </a:txBody>
                  <a:tcPr/>
                </a:tc>
                <a:extLst>
                  <a:ext uri="{0D108BD9-81ED-4DB2-BD59-A6C34878D82A}">
                    <a16:rowId xmlns:a16="http://schemas.microsoft.com/office/drawing/2014/main" val="1261181465"/>
                  </a:ext>
                </a:extLst>
              </a:tr>
            </a:tbl>
          </a:graphicData>
        </a:graphic>
      </p:graphicFrame>
      <p:pic>
        <p:nvPicPr>
          <p:cNvPr id="23" name="Imagen 22">
            <a:extLst>
              <a:ext uri="{FF2B5EF4-FFF2-40B4-BE49-F238E27FC236}">
                <a16:creationId xmlns:a16="http://schemas.microsoft.com/office/drawing/2014/main" id="{1BDB08D0-C8DC-FB75-6727-D81EB583D593}"/>
              </a:ext>
            </a:extLst>
          </p:cNvPr>
          <p:cNvPicPr>
            <a:picLocks noChangeAspect="1"/>
          </p:cNvPicPr>
          <p:nvPr/>
        </p:nvPicPr>
        <p:blipFill>
          <a:blip r:embed="rId5"/>
          <a:stretch>
            <a:fillRect/>
          </a:stretch>
        </p:blipFill>
        <p:spPr>
          <a:xfrm>
            <a:off x="1579204" y="19710182"/>
            <a:ext cx="13683702" cy="8248008"/>
          </a:xfrm>
          <a:prstGeom prst="rect">
            <a:avLst/>
          </a:prstGeom>
        </p:spPr>
      </p:pic>
      <p:graphicFrame>
        <p:nvGraphicFramePr>
          <p:cNvPr id="27" name="Tabla 26">
            <a:extLst>
              <a:ext uri="{FF2B5EF4-FFF2-40B4-BE49-F238E27FC236}">
                <a16:creationId xmlns:a16="http://schemas.microsoft.com/office/drawing/2014/main" id="{5DD26DA8-4C58-CE8D-5E57-295C3EEDB45F}"/>
              </a:ext>
            </a:extLst>
          </p:cNvPr>
          <p:cNvGraphicFramePr>
            <a:graphicFrameLocks noGrp="1"/>
          </p:cNvGraphicFramePr>
          <p:nvPr>
            <p:extLst>
              <p:ext uri="{D42A27DB-BD31-4B8C-83A1-F6EECF244321}">
                <p14:modId xmlns:p14="http://schemas.microsoft.com/office/powerpoint/2010/main" val="2748968447"/>
              </p:ext>
            </p:extLst>
          </p:nvPr>
        </p:nvGraphicFramePr>
        <p:xfrm>
          <a:off x="15637303" y="21491415"/>
          <a:ext cx="14174881" cy="5534025"/>
        </p:xfrm>
        <a:graphic>
          <a:graphicData uri="http://schemas.openxmlformats.org/drawingml/2006/table">
            <a:tbl>
              <a:tblPr>
                <a:tableStyleId>{5C22544A-7EE6-4342-B048-85BDC9FD1C3A}</a:tableStyleId>
              </a:tblPr>
              <a:tblGrid>
                <a:gridCol w="2559132">
                  <a:extLst>
                    <a:ext uri="{9D8B030D-6E8A-4147-A177-3AD203B41FA5}">
                      <a16:colId xmlns:a16="http://schemas.microsoft.com/office/drawing/2014/main" val="2433245715"/>
                    </a:ext>
                  </a:extLst>
                </a:gridCol>
                <a:gridCol w="3228812">
                  <a:extLst>
                    <a:ext uri="{9D8B030D-6E8A-4147-A177-3AD203B41FA5}">
                      <a16:colId xmlns:a16="http://schemas.microsoft.com/office/drawing/2014/main" val="3981183045"/>
                    </a:ext>
                  </a:extLst>
                </a:gridCol>
                <a:gridCol w="3125170">
                  <a:extLst>
                    <a:ext uri="{9D8B030D-6E8A-4147-A177-3AD203B41FA5}">
                      <a16:colId xmlns:a16="http://schemas.microsoft.com/office/drawing/2014/main" val="4292617800"/>
                    </a:ext>
                  </a:extLst>
                </a:gridCol>
                <a:gridCol w="3647969">
                  <a:extLst>
                    <a:ext uri="{9D8B030D-6E8A-4147-A177-3AD203B41FA5}">
                      <a16:colId xmlns:a16="http://schemas.microsoft.com/office/drawing/2014/main" val="2903001516"/>
                    </a:ext>
                  </a:extLst>
                </a:gridCol>
                <a:gridCol w="1613798">
                  <a:extLst>
                    <a:ext uri="{9D8B030D-6E8A-4147-A177-3AD203B41FA5}">
                      <a16:colId xmlns:a16="http://schemas.microsoft.com/office/drawing/2014/main" val="96653185"/>
                    </a:ext>
                  </a:extLst>
                </a:gridCol>
              </a:tblGrid>
              <a:tr h="382668">
                <a:tc>
                  <a:txBody>
                    <a:bodyPr/>
                    <a:lstStyle/>
                    <a:p>
                      <a:pPr algn="ctr" fontAlgn="ctr">
                        <a:buNone/>
                      </a:pPr>
                      <a:r>
                        <a:rPr lang="es-CL" sz="3000" u="none" strike="noStrike" dirty="0">
                          <a:effectLst/>
                        </a:rPr>
                        <a:t>Estudio (Año)</a:t>
                      </a:r>
                      <a:endParaRPr lang="es-CL" sz="3000" b="1" i="0" u="none" strike="noStrike" dirty="0">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CL" sz="3000" u="none" strike="noStrike">
                          <a:effectLst/>
                        </a:rPr>
                        <a:t>Algoritmo/Modelo</a:t>
                      </a:r>
                      <a:endParaRPr lang="es-CL" sz="30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CL" sz="3000" u="none" strike="noStrike">
                          <a:effectLst/>
                        </a:rPr>
                        <a:t>Base de datos (n)</a:t>
                      </a:r>
                      <a:endParaRPr lang="es-CL" sz="30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CL" sz="3000" u="none" strike="noStrike">
                          <a:effectLst/>
                        </a:rPr>
                        <a:t>Descriptores clave</a:t>
                      </a:r>
                      <a:endParaRPr lang="es-CL" sz="30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CL" sz="3000" u="none" strike="noStrike" dirty="0">
                          <a:effectLst/>
                        </a:rPr>
                        <a:t>R²</a:t>
                      </a:r>
                      <a:endParaRPr lang="es-CL" sz="3000" b="1" i="0" u="none" strike="noStrike" dirty="0">
                        <a:solidFill>
                          <a:srgbClr val="FFFFFF"/>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770928"/>
                  </a:ext>
                </a:extLst>
              </a:tr>
              <a:tr h="1131294">
                <a:tc>
                  <a:txBody>
                    <a:bodyPr/>
                    <a:lstStyle/>
                    <a:p>
                      <a:pPr algn="l" fontAlgn="ctr">
                        <a:buNone/>
                      </a:pPr>
                      <a:r>
                        <a:rPr lang="es-CL" sz="3000" u="none" strike="noStrike" dirty="0">
                          <a:effectLst/>
                        </a:rPr>
                        <a:t>Jensen et al. (2020)</a:t>
                      </a:r>
                      <a:endParaRPr lang="es-CL" sz="30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err="1">
                          <a:effectLst/>
                        </a:rPr>
                        <a:t>Random</a:t>
                      </a:r>
                      <a:r>
                        <a:rPr lang="es-CL" sz="3000" u="none" strike="noStrike" dirty="0">
                          <a:effectLst/>
                        </a:rPr>
                        <a:t> </a:t>
                      </a:r>
                      <a:r>
                        <a:rPr lang="es-CL" sz="3000" u="none" strike="noStrike" dirty="0" err="1">
                          <a:effectLst/>
                        </a:rPr>
                        <a:t>Forest</a:t>
                      </a:r>
                      <a:r>
                        <a:rPr lang="es-CL" sz="3000" u="none" strike="noStrike" dirty="0">
                          <a:effectLst/>
                        </a:rPr>
                        <a:t>, PLS</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~500–600 compuestos PAMPA curados</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logP, PSA, volumen mol., H-bond</a:t>
                      </a:r>
                      <a:endParaRPr lang="es-CL" sz="3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R² ≈ 0.82</a:t>
                      </a:r>
                      <a:endParaRPr lang="es-CL" sz="30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559744851"/>
                  </a:ext>
                </a:extLst>
              </a:tr>
              <a:tr h="1131294">
                <a:tc>
                  <a:txBody>
                    <a:bodyPr/>
                    <a:lstStyle/>
                    <a:p>
                      <a:pPr algn="l" fontAlgn="ctr">
                        <a:buNone/>
                      </a:pPr>
                      <a:r>
                        <a:rPr lang="es-CL" sz="3000" u="none" strike="noStrike">
                          <a:effectLst/>
                        </a:rPr>
                        <a:t>Pham-The et al. (2013)</a:t>
                      </a:r>
                      <a:endParaRPr lang="es-CL" sz="30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Ensamble MLR + PLS + SVM</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~400–500 compuestos PAMPA</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err="1">
                          <a:effectLst/>
                        </a:rPr>
                        <a:t>Dragon</a:t>
                      </a:r>
                      <a:r>
                        <a:rPr lang="es-CL" sz="3000" u="none" strike="noStrike" dirty="0">
                          <a:effectLst/>
                        </a:rPr>
                        <a:t>, </a:t>
                      </a:r>
                      <a:r>
                        <a:rPr lang="es-CL" sz="3000" u="none" strike="noStrike" dirty="0" err="1">
                          <a:effectLst/>
                        </a:rPr>
                        <a:t>VolSurf</a:t>
                      </a:r>
                      <a:r>
                        <a:rPr lang="es-CL" sz="3000" u="none" strike="noStrike" dirty="0">
                          <a:effectLst/>
                        </a:rPr>
                        <a:t>, </a:t>
                      </a:r>
                      <a:r>
                        <a:rPr lang="es-CL" sz="3000" u="none" strike="noStrike" dirty="0" err="1">
                          <a:effectLst/>
                        </a:rPr>
                        <a:t>logP</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R² ≈ 0.80</a:t>
                      </a:r>
                      <a:endParaRPr lang="es-CL" sz="3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311819973"/>
                  </a:ext>
                </a:extLst>
              </a:tr>
              <a:tr h="1085171">
                <a:tc>
                  <a:txBody>
                    <a:bodyPr/>
                    <a:lstStyle/>
                    <a:p>
                      <a:pPr algn="l" fontAlgn="ctr">
                        <a:buNone/>
                      </a:pPr>
                      <a:r>
                        <a:rPr lang="es-CL" sz="3000" u="none" strike="noStrike">
                          <a:effectLst/>
                        </a:rPr>
                        <a:t>Sun et al. (2017)</a:t>
                      </a:r>
                      <a:endParaRPr lang="es-CL" sz="30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MLR (benchmarking)</a:t>
                      </a:r>
                      <a:endParaRPr lang="es-CL" sz="3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~200–300 compuestos PAMPA/HIA</a:t>
                      </a:r>
                      <a:endParaRPr lang="es-CL" sz="3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err="1">
                          <a:effectLst/>
                        </a:rPr>
                        <a:t>logP</a:t>
                      </a:r>
                      <a:r>
                        <a:rPr lang="es-CL" sz="3000" u="none" strike="noStrike" dirty="0">
                          <a:effectLst/>
                        </a:rPr>
                        <a:t>, TPSA, </a:t>
                      </a:r>
                      <a:r>
                        <a:rPr lang="es-CL" sz="3000" u="none" strike="noStrike" dirty="0" err="1">
                          <a:effectLst/>
                        </a:rPr>
                        <a:t>biofarmacéuticos</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R² ≈ 0.75</a:t>
                      </a:r>
                      <a:endParaRPr lang="es-CL" sz="3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863735240"/>
                  </a:ext>
                </a:extLst>
              </a:tr>
              <a:tr h="897364">
                <a:tc>
                  <a:txBody>
                    <a:bodyPr/>
                    <a:lstStyle/>
                    <a:p>
                      <a:pPr algn="l" fontAlgn="ctr">
                        <a:buNone/>
                      </a:pPr>
                      <a:r>
                        <a:rPr lang="es-CL" sz="3000" u="none" strike="noStrike">
                          <a:effectLst/>
                        </a:rPr>
                        <a:t>Hou et al. (2021)</a:t>
                      </a:r>
                      <a:endParaRPr lang="es-CL" sz="30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SVM optimizado</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a:effectLst/>
                        </a:rPr>
                        <a:t>~300 compuestos PAMPA nuevos</a:t>
                      </a:r>
                      <a:endParaRPr lang="es-CL" sz="3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err="1">
                          <a:effectLst/>
                        </a:rPr>
                        <a:t>logP</a:t>
                      </a:r>
                      <a:r>
                        <a:rPr lang="es-CL" sz="3000" u="none" strike="noStrike" dirty="0">
                          <a:effectLst/>
                        </a:rPr>
                        <a:t>, PSA, MW, índices topológicos</a:t>
                      </a:r>
                      <a:endParaRPr lang="es-CL" sz="3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CL" sz="3000" u="none" strike="noStrike" dirty="0">
                          <a:effectLst/>
                        </a:rPr>
                        <a:t>R² ≈ 0.81</a:t>
                      </a:r>
                      <a:endParaRPr lang="es-CL" sz="30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751129297"/>
                  </a:ext>
                </a:extLst>
              </a:tr>
            </a:tbl>
          </a:graphicData>
        </a:graphic>
      </p:graphicFrame>
      <p:sp>
        <p:nvSpPr>
          <p:cNvPr id="29" name="CuadroTexto 28">
            <a:extLst>
              <a:ext uri="{FF2B5EF4-FFF2-40B4-BE49-F238E27FC236}">
                <a16:creationId xmlns:a16="http://schemas.microsoft.com/office/drawing/2014/main" id="{6B015B47-B961-875E-6D14-24E40B16FD7D}"/>
              </a:ext>
            </a:extLst>
          </p:cNvPr>
          <p:cNvSpPr txBox="1"/>
          <p:nvPr/>
        </p:nvSpPr>
        <p:spPr>
          <a:xfrm>
            <a:off x="15625397" y="20266045"/>
            <a:ext cx="13868627" cy="1077218"/>
          </a:xfrm>
          <a:prstGeom prst="rect">
            <a:avLst/>
          </a:prstGeom>
          <a:noFill/>
        </p:spPr>
        <p:txBody>
          <a:bodyPr wrap="square">
            <a:spAutoFit/>
          </a:bodyPr>
          <a:lstStyle/>
          <a:p>
            <a:pPr algn="just"/>
            <a:r>
              <a:rPr lang="es-ES" sz="3200" b="1" dirty="0">
                <a:latin typeface="+mn-lt"/>
              </a:rPr>
              <a:t>Tabla 2: </a:t>
            </a:r>
            <a:r>
              <a:rPr lang="es-ES" sz="3200" dirty="0">
                <a:latin typeface="+mn-lt"/>
              </a:rPr>
              <a:t>Tabla comparativa de modelos QSAR recientes basados en PAMPA</a:t>
            </a:r>
          </a:p>
        </p:txBody>
      </p:sp>
      <p:sp>
        <p:nvSpPr>
          <p:cNvPr id="30" name="CuadroTexto 29">
            <a:extLst>
              <a:ext uri="{FF2B5EF4-FFF2-40B4-BE49-F238E27FC236}">
                <a16:creationId xmlns:a16="http://schemas.microsoft.com/office/drawing/2014/main" id="{7A9B77BB-E846-6E61-3C25-AC5ECA18B1D1}"/>
              </a:ext>
            </a:extLst>
          </p:cNvPr>
          <p:cNvSpPr txBox="1"/>
          <p:nvPr/>
        </p:nvSpPr>
        <p:spPr>
          <a:xfrm>
            <a:off x="15637303" y="27530574"/>
            <a:ext cx="13958612" cy="4032001"/>
          </a:xfrm>
          <a:prstGeom prst="rect">
            <a:avLst/>
          </a:prstGeom>
          <a:noFill/>
        </p:spPr>
        <p:txBody>
          <a:bodyPr wrap="square" rtlCol="0">
            <a:spAutoFit/>
          </a:bodyPr>
          <a:lstStyle/>
          <a:p>
            <a:pPr defTabSz="4704704"/>
            <a:r>
              <a:rPr lang="es-MX" sz="3200" dirty="0"/>
              <a:t>Esta tabla resume ejemplos recientes de modelos </a:t>
            </a:r>
            <a:r>
              <a:rPr lang="es-MX" sz="3200" b="1" dirty="0"/>
              <a:t>QSAR</a:t>
            </a:r>
            <a:r>
              <a:rPr lang="es-MX" sz="3200" dirty="0"/>
              <a:t> construidos específicamente con datos experimentales </a:t>
            </a:r>
            <a:r>
              <a:rPr lang="es-MX" sz="3200" b="1" dirty="0"/>
              <a:t>PAMPA</a:t>
            </a:r>
            <a:r>
              <a:rPr lang="es-MX" sz="3200" dirty="0"/>
              <a:t>, destacando el tipo de algoritmo utilizado, el tamaño de la base de datos y el </a:t>
            </a:r>
            <a:r>
              <a:rPr lang="es-MX" sz="3200" b="1" dirty="0"/>
              <a:t>R²</a:t>
            </a:r>
            <a:r>
              <a:rPr lang="es-MX" sz="3200" dirty="0"/>
              <a:t> como principal parámetro de ajuste. Los valores de </a:t>
            </a:r>
            <a:r>
              <a:rPr lang="es-MX" sz="3200" b="1" dirty="0"/>
              <a:t>R²</a:t>
            </a:r>
            <a:r>
              <a:rPr lang="es-MX" sz="3200" dirty="0"/>
              <a:t>, superiores a 0.75 en todos los casos, confirman la </a:t>
            </a:r>
            <a:r>
              <a:rPr lang="es-MX" sz="3200" b="1" dirty="0"/>
              <a:t>capacidad de correlación</a:t>
            </a:r>
            <a:r>
              <a:rPr lang="es-MX" sz="3200" dirty="0"/>
              <a:t> y la utilidad de PAMPA como base experimental confiable para estimar la permeabilidad intestinal pasiva de nuevos compuestos orales.</a:t>
            </a:r>
            <a:endParaRPr lang="es-ES_tradnl" sz="3600" dirty="0"/>
          </a:p>
          <a:p>
            <a:pPr algn="just"/>
            <a:endParaRPr lang="es-ES" sz="3201" dirty="0"/>
          </a:p>
        </p:txBody>
      </p:sp>
      <p:sp>
        <p:nvSpPr>
          <p:cNvPr id="42" name="CuadroTexto 41">
            <a:extLst>
              <a:ext uri="{FF2B5EF4-FFF2-40B4-BE49-F238E27FC236}">
                <a16:creationId xmlns:a16="http://schemas.microsoft.com/office/drawing/2014/main" id="{41845A7D-8474-088B-3D42-AF2EC4548F2C}"/>
              </a:ext>
            </a:extLst>
          </p:cNvPr>
          <p:cNvSpPr txBox="1"/>
          <p:nvPr/>
        </p:nvSpPr>
        <p:spPr>
          <a:xfrm>
            <a:off x="1328297" y="29575187"/>
            <a:ext cx="7092758" cy="9941439"/>
          </a:xfrm>
          <a:prstGeom prst="rect">
            <a:avLst/>
          </a:prstGeom>
          <a:noFill/>
        </p:spPr>
        <p:txBody>
          <a:bodyPr wrap="square" rtlCol="0">
            <a:spAutoFit/>
          </a:bodyPr>
          <a:lstStyle/>
          <a:p>
            <a:pPr marL="457200" indent="-457200">
              <a:buFont typeface="Wingdings" panose="05000000000000000000" pitchFamily="2" charset="2"/>
              <a:buChar char="Ø"/>
            </a:pPr>
            <a:r>
              <a:rPr lang="es-ES" sz="3200" dirty="0"/>
              <a:t>LA BD se construyó recopilando datos experimentales de permeabilidad PAMPA de la literatura.</a:t>
            </a:r>
          </a:p>
          <a:p>
            <a:pPr marL="457200" indent="-457200">
              <a:buFont typeface="Wingdings" panose="05000000000000000000" pitchFamily="2" charset="2"/>
              <a:buChar char="Ø"/>
            </a:pPr>
            <a:r>
              <a:rPr lang="es-ES" sz="3200" dirty="0"/>
              <a:t>La BD fue curada (eliminando duplicados, compuestos con estructuras inconexas, Hidrógenos faltantes etc.</a:t>
            </a:r>
          </a:p>
          <a:p>
            <a:pPr marL="457200" indent="-457200">
              <a:buFont typeface="Wingdings" panose="05000000000000000000" pitchFamily="2" charset="2"/>
              <a:buChar char="Ø"/>
            </a:pPr>
            <a:r>
              <a:rPr lang="es-ES" sz="3200" dirty="0"/>
              <a:t>Se calcularon los descriptores moleculares empleando el programa </a:t>
            </a:r>
            <a:r>
              <a:rPr lang="es-ES" sz="3200" dirty="0" err="1"/>
              <a:t>AlvaDesc</a:t>
            </a:r>
            <a:endParaRPr lang="es-ES" sz="3200" dirty="0"/>
          </a:p>
          <a:p>
            <a:pPr marL="457200" indent="-457200">
              <a:buFont typeface="Wingdings" panose="05000000000000000000" pitchFamily="2" charset="2"/>
              <a:buChar char="Ø"/>
            </a:pPr>
            <a:r>
              <a:rPr lang="es-ES" sz="3200" dirty="0"/>
              <a:t>Se dividió la BD en Serie de Entrenamiento y Serie de predicción como se muestra en el </a:t>
            </a:r>
            <a:r>
              <a:rPr lang="es-ES" sz="3200" dirty="0" err="1"/>
              <a:t>Fig</a:t>
            </a:r>
            <a:r>
              <a:rPr lang="es-ES" sz="3200" dirty="0"/>
              <a:t> 2</a:t>
            </a:r>
          </a:p>
          <a:p>
            <a:pPr marL="457200" indent="-457200">
              <a:buFont typeface="Wingdings" panose="05000000000000000000" pitchFamily="2" charset="2"/>
              <a:buChar char="Ø"/>
            </a:pPr>
            <a:r>
              <a:rPr lang="es-ES" sz="3200" dirty="0"/>
              <a:t>Se empleo el programa </a:t>
            </a:r>
            <a:r>
              <a:rPr lang="es-ES" sz="3200" dirty="0" err="1"/>
              <a:t>Weka</a:t>
            </a:r>
            <a:r>
              <a:rPr lang="es-ES" sz="3200" dirty="0"/>
              <a:t> para desarrollar los modelos de Machine </a:t>
            </a:r>
            <a:r>
              <a:rPr lang="es-ES" sz="3200" dirty="0" err="1"/>
              <a:t>learning</a:t>
            </a:r>
            <a:endParaRPr lang="es-ES" sz="3200" dirty="0"/>
          </a:p>
          <a:p>
            <a:endParaRPr lang="es-ES" sz="3201" dirty="0"/>
          </a:p>
          <a:p>
            <a:endParaRPr lang="es-ES" sz="3201" dirty="0"/>
          </a:p>
        </p:txBody>
      </p:sp>
      <p:sp>
        <p:nvSpPr>
          <p:cNvPr id="5" name="Rectangle 7">
            <a:extLst>
              <a:ext uri="{FF2B5EF4-FFF2-40B4-BE49-F238E27FC236}">
                <a16:creationId xmlns:a16="http://schemas.microsoft.com/office/drawing/2014/main" id="{6919D939-EA94-E494-DC29-8E014ACB6F36}"/>
              </a:ext>
            </a:extLst>
          </p:cNvPr>
          <p:cNvSpPr>
            <a:spLocks noChangeArrowheads="1"/>
          </p:cNvSpPr>
          <p:nvPr/>
        </p:nvSpPr>
        <p:spPr bwMode="auto">
          <a:xfrm>
            <a:off x="2336006" y="28865879"/>
            <a:ext cx="11142503" cy="68069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137191" tIns="68595" rIns="137191" bIns="68595" anchor="ctr"/>
          <a:lstStyle/>
          <a:p>
            <a:pPr algn="ctr" defTabSz="4704704"/>
            <a:r>
              <a:rPr lang="es-ES" sz="5401" b="1" spc="900" dirty="0">
                <a:solidFill>
                  <a:schemeClr val="bg1"/>
                </a:solidFill>
                <a:latin typeface="Calibri" panose="020F0502020204030204" pitchFamily="34" charset="0"/>
                <a:ea typeface="Verdana" panose="020B0604030504040204" pitchFamily="34" charset="0"/>
                <a:cs typeface="Calibri" panose="020F0502020204030204" pitchFamily="34" charset="0"/>
              </a:rPr>
              <a:t>Metodología</a:t>
            </a:r>
          </a:p>
        </p:txBody>
      </p:sp>
      <p:pic>
        <p:nvPicPr>
          <p:cNvPr id="3" name="Imagen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889423" y="793630"/>
            <a:ext cx="7199376" cy="2017776"/>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45ef02-6b8f-4c9f-951f-57b7da41dce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82A117842B41064B86843D1498412DF3" ma:contentTypeVersion="15" ma:contentTypeDescription="Crear nuevo documento." ma:contentTypeScope="" ma:versionID="741876b6a1bd5d76ca2693587182041d">
  <xsd:schema xmlns:xsd="http://www.w3.org/2001/XMLSchema" xmlns:xs="http://www.w3.org/2001/XMLSchema" xmlns:p="http://schemas.microsoft.com/office/2006/metadata/properties" xmlns:ns3="3b45ef02-6b8f-4c9f-951f-57b7da41dce5" xmlns:ns4="805b109c-6fb0-489c-a595-bed0f825287e" targetNamespace="http://schemas.microsoft.com/office/2006/metadata/properties" ma:root="true" ma:fieldsID="27d85eafaba16b2e5c19130ed5450910" ns3:_="" ns4:_="">
    <xsd:import namespace="3b45ef02-6b8f-4c9f-951f-57b7da41dce5"/>
    <xsd:import namespace="805b109c-6fb0-489c-a595-bed0f825287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45ef02-6b8f-4c9f-951f-57b7da41dc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05b109c-6fb0-489c-a595-bed0f825287e"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017B36-01E3-4121-ABF1-9816582D79AE}">
  <ds:schemaRefs>
    <ds:schemaRef ds:uri="3b45ef02-6b8f-4c9f-951f-57b7da41dce5"/>
    <ds:schemaRef ds:uri="http://schemas.microsoft.com/office/infopath/2007/PartnerControls"/>
    <ds:schemaRef ds:uri="http://schemas.microsoft.com/office/2006/metadata/properties"/>
    <ds:schemaRef ds:uri="http://purl.org/dc/elements/1.1/"/>
    <ds:schemaRef ds:uri="http://purl.org/dc/terms/"/>
    <ds:schemaRef ds:uri="http://www.w3.org/XML/1998/namespace"/>
    <ds:schemaRef ds:uri="http://schemas.microsoft.com/office/2006/documentManagement/types"/>
    <ds:schemaRef ds:uri="http://schemas.openxmlformats.org/package/2006/metadata/core-properties"/>
    <ds:schemaRef ds:uri="805b109c-6fb0-489c-a595-bed0f825287e"/>
    <ds:schemaRef ds:uri="http://purl.org/dc/dcmitype/"/>
  </ds:schemaRefs>
</ds:datastoreItem>
</file>

<file path=customXml/itemProps2.xml><?xml version="1.0" encoding="utf-8"?>
<ds:datastoreItem xmlns:ds="http://schemas.openxmlformats.org/officeDocument/2006/customXml" ds:itemID="{45B790E6-4DC2-444D-8304-D063F3824E4F}">
  <ds:schemaRefs>
    <ds:schemaRef ds:uri="http://schemas.microsoft.com/sharepoint/v3/contenttype/forms"/>
  </ds:schemaRefs>
</ds:datastoreItem>
</file>

<file path=customXml/itemProps3.xml><?xml version="1.0" encoding="utf-8"?>
<ds:datastoreItem xmlns:ds="http://schemas.openxmlformats.org/officeDocument/2006/customXml" ds:itemID="{D3A29D57-54C5-4937-95CD-867F11C603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45ef02-6b8f-4c9f-951f-57b7da41dce5"/>
    <ds:schemaRef ds:uri="805b109c-6fb0-489c-a595-bed0f82528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2664</TotalTime>
  <Words>1056</Words>
  <Application>Microsoft Office PowerPoint</Application>
  <PresentationFormat>Personalizado</PresentationFormat>
  <Paragraphs>81</Paragraphs>
  <Slides>1</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vt:i4>
      </vt:variant>
    </vt:vector>
  </HeadingPairs>
  <TitlesOfParts>
    <vt:vector size="8" baseType="lpstr">
      <vt:lpstr>Aptos Narrow</vt:lpstr>
      <vt:lpstr>Arial</vt:lpstr>
      <vt:lpstr>Calibri</vt:lpstr>
      <vt:lpstr>Gill Sans</vt:lpstr>
      <vt:lpstr>Times New Roman</vt:lpstr>
      <vt:lpstr>Wingdings</vt:lpstr>
      <vt:lpstr>Default Design</vt:lpstr>
      <vt:lpstr>Presentación de PowerPoint</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BENJAMIN ANDRES VASQUEZ PEREZ</cp:lastModifiedBy>
  <cp:revision>105</cp:revision>
  <dcterms:created xsi:type="dcterms:W3CDTF">2004-07-27T19:46:06Z</dcterms:created>
  <dcterms:modified xsi:type="dcterms:W3CDTF">2025-07-07T16:34:00Z</dcterms:modified>
  <cp:category>scientific poster PowerPoint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0x01010082A117842B41064B86843D1498412DF3</vt:lpwstr>
  </property>
</Properties>
</file>